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7" r:id="rId8"/>
    <p:sldId id="268" r:id="rId9"/>
    <p:sldId id="269" r:id="rId10"/>
    <p:sldId id="270" r:id="rId11"/>
    <p:sldId id="271" r:id="rId12"/>
    <p:sldId id="272" r:id="rId13"/>
    <p:sldId id="273" r:id="rId14"/>
    <p:sldId id="274" r:id="rId15"/>
    <p:sldId id="275" r:id="rId16"/>
    <p:sldId id="264" r:id="rId17"/>
    <p:sldId id="265" r:id="rId18"/>
    <p:sldId id="266" r:id="rId19"/>
    <p:sldId id="276" r:id="rId20"/>
  </p:sldIdLst>
  <p:sldSz cx="12192000" cy="6858000"/>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4" d="100"/>
          <a:sy n="94" d="100"/>
        </p:scale>
        <p:origin x="245" y="8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ADCF31-0276-4A5F-8E2B-B2F9808E7B1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2ABF82B-6835-4E57-BB45-B8322AE38A0A}">
      <dgm:prSet phldrT="[Text]"/>
      <dgm:spPr>
        <a:solidFill>
          <a:schemeClr val="bg2">
            <a:lumMod val="90000"/>
          </a:schemeClr>
        </a:solidFill>
      </dgm:spPr>
      <dgm:t>
        <a:bodyPr/>
        <a:lstStyle/>
        <a:p>
          <a:r>
            <a:rPr lang="en-US" dirty="0" smtClean="0">
              <a:solidFill>
                <a:schemeClr val="tx1"/>
              </a:solidFill>
            </a:rPr>
            <a:t>Layer 1: Data Ingestion &amp;Normalization</a:t>
          </a:r>
          <a:endParaRPr lang="en-US" dirty="0">
            <a:solidFill>
              <a:schemeClr val="tx1"/>
            </a:solidFill>
          </a:endParaRPr>
        </a:p>
      </dgm:t>
    </dgm:pt>
    <dgm:pt modelId="{4F27D687-3272-4DFE-8E7C-0596F1282FD0}" type="parTrans" cxnId="{9074580B-35DB-474D-9E6E-B5CA2D97EBC7}">
      <dgm:prSet/>
      <dgm:spPr/>
      <dgm:t>
        <a:bodyPr/>
        <a:lstStyle/>
        <a:p>
          <a:endParaRPr lang="en-US"/>
        </a:p>
      </dgm:t>
    </dgm:pt>
    <dgm:pt modelId="{E488CE89-D6F6-41B3-BCBB-A286E9CFBCA5}" type="sibTrans" cxnId="{9074580B-35DB-474D-9E6E-B5CA2D97EBC7}">
      <dgm:prSet/>
      <dgm:spPr/>
      <dgm:t>
        <a:bodyPr/>
        <a:lstStyle/>
        <a:p>
          <a:endParaRPr lang="en-US"/>
        </a:p>
      </dgm:t>
    </dgm:pt>
    <dgm:pt modelId="{1B6C3899-2F00-4E86-BA6D-473A8402BA1F}">
      <dgm:prSet phldrT="[Text]"/>
      <dgm:spPr>
        <a:solidFill>
          <a:schemeClr val="bg2">
            <a:lumMod val="90000"/>
          </a:schemeClr>
        </a:solidFill>
      </dgm:spPr>
      <dgm:t>
        <a:bodyPr/>
        <a:lstStyle/>
        <a:p>
          <a:r>
            <a:rPr lang="en-US" dirty="0" smtClean="0">
              <a:solidFill>
                <a:schemeClr val="tx1"/>
              </a:solidFill>
            </a:rPr>
            <a:t>Layer 2: </a:t>
          </a:r>
          <a:r>
            <a:rPr lang="en-US" dirty="0" err="1" smtClean="0">
              <a:solidFill>
                <a:schemeClr val="tx1"/>
              </a:solidFill>
            </a:rPr>
            <a:t>ReAct</a:t>
          </a:r>
          <a:r>
            <a:rPr lang="en-US" dirty="0" smtClean="0">
              <a:solidFill>
                <a:schemeClr val="tx1"/>
              </a:solidFill>
            </a:rPr>
            <a:t> core (Investigation Only)</a:t>
          </a:r>
          <a:endParaRPr lang="en-US" dirty="0">
            <a:solidFill>
              <a:schemeClr val="tx1"/>
            </a:solidFill>
          </a:endParaRPr>
        </a:p>
      </dgm:t>
    </dgm:pt>
    <dgm:pt modelId="{A3448602-DFEF-456B-B8DD-A13A62D1CFB6}" type="parTrans" cxnId="{2D868B42-EE8B-4D8D-84C8-2F746BBF88B0}">
      <dgm:prSet/>
      <dgm:spPr/>
      <dgm:t>
        <a:bodyPr/>
        <a:lstStyle/>
        <a:p>
          <a:endParaRPr lang="en-US"/>
        </a:p>
      </dgm:t>
    </dgm:pt>
    <dgm:pt modelId="{4BA48609-5D02-4665-9112-A76DF73D612A}" type="sibTrans" cxnId="{2D868B42-EE8B-4D8D-84C8-2F746BBF88B0}">
      <dgm:prSet/>
      <dgm:spPr/>
      <dgm:t>
        <a:bodyPr/>
        <a:lstStyle/>
        <a:p>
          <a:endParaRPr lang="en-US"/>
        </a:p>
      </dgm:t>
    </dgm:pt>
    <dgm:pt modelId="{92E2036B-EC57-4B98-B5E0-6CEBB853AC77}">
      <dgm:prSet phldrT="[Text]"/>
      <dgm:spPr>
        <a:solidFill>
          <a:schemeClr val="bg2">
            <a:lumMod val="90000"/>
          </a:schemeClr>
        </a:solidFill>
      </dgm:spPr>
      <dgm:t>
        <a:bodyPr/>
        <a:lstStyle/>
        <a:p>
          <a:r>
            <a:rPr lang="en-US" dirty="0" smtClean="0">
              <a:solidFill>
                <a:schemeClr val="tx1"/>
              </a:solidFill>
            </a:rPr>
            <a:t>Layer 3: Safety Gate (</a:t>
          </a:r>
          <a:r>
            <a:rPr lang="en-US" dirty="0" err="1" smtClean="0">
              <a:solidFill>
                <a:schemeClr val="tx1"/>
              </a:solidFill>
            </a:rPr>
            <a:t>Determimistic</a:t>
          </a:r>
          <a:r>
            <a:rPr lang="en-US" dirty="0" smtClean="0">
              <a:solidFill>
                <a:schemeClr val="tx1"/>
              </a:solidFill>
            </a:rPr>
            <a:t> Validation)</a:t>
          </a:r>
          <a:endParaRPr lang="en-US" dirty="0">
            <a:solidFill>
              <a:schemeClr val="tx1"/>
            </a:solidFill>
          </a:endParaRPr>
        </a:p>
      </dgm:t>
    </dgm:pt>
    <dgm:pt modelId="{F78CA017-4D21-4DF9-B2C4-B7171E359E68}" type="parTrans" cxnId="{C46FE7D1-B2B9-42B2-9122-ACA715DAFFFD}">
      <dgm:prSet/>
      <dgm:spPr/>
      <dgm:t>
        <a:bodyPr/>
        <a:lstStyle/>
        <a:p>
          <a:endParaRPr lang="en-US"/>
        </a:p>
      </dgm:t>
    </dgm:pt>
    <dgm:pt modelId="{37D5F517-CDF3-4DCD-8895-BB72DACC3FFC}" type="sibTrans" cxnId="{C46FE7D1-B2B9-42B2-9122-ACA715DAFFFD}">
      <dgm:prSet/>
      <dgm:spPr/>
      <dgm:t>
        <a:bodyPr/>
        <a:lstStyle/>
        <a:p>
          <a:endParaRPr lang="en-US"/>
        </a:p>
      </dgm:t>
    </dgm:pt>
    <dgm:pt modelId="{974B433C-BCA2-4BB4-B2FA-3227B627D12D}">
      <dgm:prSet phldrT="[Text]"/>
      <dgm:spPr>
        <a:solidFill>
          <a:schemeClr val="bg2">
            <a:lumMod val="90000"/>
          </a:schemeClr>
        </a:solidFill>
      </dgm:spPr>
      <dgm:t>
        <a:bodyPr/>
        <a:lstStyle/>
        <a:p>
          <a:r>
            <a:rPr lang="en-US" dirty="0" smtClean="0">
              <a:solidFill>
                <a:schemeClr val="tx1"/>
              </a:solidFill>
            </a:rPr>
            <a:t>Layer 4: Execution &amp; Audit</a:t>
          </a:r>
          <a:endParaRPr lang="en-US" dirty="0">
            <a:solidFill>
              <a:schemeClr val="tx1"/>
            </a:solidFill>
          </a:endParaRPr>
        </a:p>
      </dgm:t>
    </dgm:pt>
    <dgm:pt modelId="{CDF1F926-43A8-4334-BA7F-1DF69AADB6FE}" type="parTrans" cxnId="{C1C3A308-19B5-49A5-9B9D-FBC7AE15AAFD}">
      <dgm:prSet/>
      <dgm:spPr/>
      <dgm:t>
        <a:bodyPr/>
        <a:lstStyle/>
        <a:p>
          <a:endParaRPr lang="en-US"/>
        </a:p>
      </dgm:t>
    </dgm:pt>
    <dgm:pt modelId="{507FA463-D766-4161-BA1F-56BB0FE9CCAF}" type="sibTrans" cxnId="{C1C3A308-19B5-49A5-9B9D-FBC7AE15AAFD}">
      <dgm:prSet/>
      <dgm:spPr/>
      <dgm:t>
        <a:bodyPr/>
        <a:lstStyle/>
        <a:p>
          <a:endParaRPr lang="en-US"/>
        </a:p>
      </dgm:t>
    </dgm:pt>
    <dgm:pt modelId="{8B6AF140-F8E2-4421-9699-CC93679309C7}" type="pres">
      <dgm:prSet presAssocID="{F7ADCF31-0276-4A5F-8E2B-B2F9808E7B16}" presName="linear" presStyleCnt="0">
        <dgm:presLayoutVars>
          <dgm:dir/>
          <dgm:animLvl val="lvl"/>
          <dgm:resizeHandles val="exact"/>
        </dgm:presLayoutVars>
      </dgm:prSet>
      <dgm:spPr/>
      <dgm:t>
        <a:bodyPr/>
        <a:lstStyle/>
        <a:p>
          <a:endParaRPr lang="en-US"/>
        </a:p>
      </dgm:t>
    </dgm:pt>
    <dgm:pt modelId="{A2785E70-7F50-411E-B30C-D65796680205}" type="pres">
      <dgm:prSet presAssocID="{42ABF82B-6835-4E57-BB45-B8322AE38A0A}" presName="parentLin" presStyleCnt="0"/>
      <dgm:spPr/>
    </dgm:pt>
    <dgm:pt modelId="{6413660F-9726-4EA7-A480-7147A092823D}" type="pres">
      <dgm:prSet presAssocID="{42ABF82B-6835-4E57-BB45-B8322AE38A0A}" presName="parentLeftMargin" presStyleLbl="node1" presStyleIdx="0" presStyleCnt="4"/>
      <dgm:spPr/>
      <dgm:t>
        <a:bodyPr/>
        <a:lstStyle/>
        <a:p>
          <a:endParaRPr lang="en-US"/>
        </a:p>
      </dgm:t>
    </dgm:pt>
    <dgm:pt modelId="{E81230C8-E3C1-4E81-BAD1-7F9D9D4A2A13}" type="pres">
      <dgm:prSet presAssocID="{42ABF82B-6835-4E57-BB45-B8322AE38A0A}" presName="parentText" presStyleLbl="node1" presStyleIdx="0" presStyleCnt="4">
        <dgm:presLayoutVars>
          <dgm:chMax val="0"/>
          <dgm:bulletEnabled val="1"/>
        </dgm:presLayoutVars>
      </dgm:prSet>
      <dgm:spPr/>
      <dgm:t>
        <a:bodyPr/>
        <a:lstStyle/>
        <a:p>
          <a:endParaRPr lang="en-US"/>
        </a:p>
      </dgm:t>
    </dgm:pt>
    <dgm:pt modelId="{CE381874-09DD-4ECA-BD2C-1AEB841D2B43}" type="pres">
      <dgm:prSet presAssocID="{42ABF82B-6835-4E57-BB45-B8322AE38A0A}" presName="negativeSpace" presStyleCnt="0"/>
      <dgm:spPr/>
    </dgm:pt>
    <dgm:pt modelId="{42528451-1DCD-43A1-BA03-40DBCF33F77E}" type="pres">
      <dgm:prSet presAssocID="{42ABF82B-6835-4E57-BB45-B8322AE38A0A}" presName="childText" presStyleLbl="conFgAcc1" presStyleIdx="0" presStyleCnt="4">
        <dgm:presLayoutVars>
          <dgm:bulletEnabled val="1"/>
        </dgm:presLayoutVars>
      </dgm:prSet>
      <dgm:spPr/>
    </dgm:pt>
    <dgm:pt modelId="{4AEA6389-4846-4C04-9AA8-896C88F9DB71}" type="pres">
      <dgm:prSet presAssocID="{E488CE89-D6F6-41B3-BCBB-A286E9CFBCA5}" presName="spaceBetweenRectangles" presStyleCnt="0"/>
      <dgm:spPr/>
    </dgm:pt>
    <dgm:pt modelId="{C0CDA056-0F62-4058-A123-CAB38F22F38A}" type="pres">
      <dgm:prSet presAssocID="{1B6C3899-2F00-4E86-BA6D-473A8402BA1F}" presName="parentLin" presStyleCnt="0"/>
      <dgm:spPr/>
    </dgm:pt>
    <dgm:pt modelId="{4C8E09A6-4A60-490C-81BD-20C58726BD49}" type="pres">
      <dgm:prSet presAssocID="{1B6C3899-2F00-4E86-BA6D-473A8402BA1F}" presName="parentLeftMargin" presStyleLbl="node1" presStyleIdx="0" presStyleCnt="4"/>
      <dgm:spPr/>
      <dgm:t>
        <a:bodyPr/>
        <a:lstStyle/>
        <a:p>
          <a:endParaRPr lang="en-US"/>
        </a:p>
      </dgm:t>
    </dgm:pt>
    <dgm:pt modelId="{D5A06E8F-D27C-4C52-A428-02D4679065EA}" type="pres">
      <dgm:prSet presAssocID="{1B6C3899-2F00-4E86-BA6D-473A8402BA1F}" presName="parentText" presStyleLbl="node1" presStyleIdx="1" presStyleCnt="4">
        <dgm:presLayoutVars>
          <dgm:chMax val="0"/>
          <dgm:bulletEnabled val="1"/>
        </dgm:presLayoutVars>
      </dgm:prSet>
      <dgm:spPr/>
      <dgm:t>
        <a:bodyPr/>
        <a:lstStyle/>
        <a:p>
          <a:endParaRPr lang="en-US"/>
        </a:p>
      </dgm:t>
    </dgm:pt>
    <dgm:pt modelId="{A57060AE-0C1F-486C-9716-7E33B8EFB31B}" type="pres">
      <dgm:prSet presAssocID="{1B6C3899-2F00-4E86-BA6D-473A8402BA1F}" presName="negativeSpace" presStyleCnt="0"/>
      <dgm:spPr/>
    </dgm:pt>
    <dgm:pt modelId="{CC542EE4-9475-4BD7-A66D-C4C18091AB02}" type="pres">
      <dgm:prSet presAssocID="{1B6C3899-2F00-4E86-BA6D-473A8402BA1F}" presName="childText" presStyleLbl="conFgAcc1" presStyleIdx="1" presStyleCnt="4">
        <dgm:presLayoutVars>
          <dgm:bulletEnabled val="1"/>
        </dgm:presLayoutVars>
      </dgm:prSet>
      <dgm:spPr/>
    </dgm:pt>
    <dgm:pt modelId="{0536A69C-4337-4D8A-A4C8-4DA908F78454}" type="pres">
      <dgm:prSet presAssocID="{4BA48609-5D02-4665-9112-A76DF73D612A}" presName="spaceBetweenRectangles" presStyleCnt="0"/>
      <dgm:spPr/>
    </dgm:pt>
    <dgm:pt modelId="{0369AD66-7C34-4169-B94F-63A38D5CCB0D}" type="pres">
      <dgm:prSet presAssocID="{92E2036B-EC57-4B98-B5E0-6CEBB853AC77}" presName="parentLin" presStyleCnt="0"/>
      <dgm:spPr/>
    </dgm:pt>
    <dgm:pt modelId="{85797F90-8E98-4970-B7BA-79125178A896}" type="pres">
      <dgm:prSet presAssocID="{92E2036B-EC57-4B98-B5E0-6CEBB853AC77}" presName="parentLeftMargin" presStyleLbl="node1" presStyleIdx="1" presStyleCnt="4"/>
      <dgm:spPr/>
      <dgm:t>
        <a:bodyPr/>
        <a:lstStyle/>
        <a:p>
          <a:endParaRPr lang="en-US"/>
        </a:p>
      </dgm:t>
    </dgm:pt>
    <dgm:pt modelId="{49F38F6B-6A09-4FDD-A0DD-24D7968A3565}" type="pres">
      <dgm:prSet presAssocID="{92E2036B-EC57-4B98-B5E0-6CEBB853AC77}" presName="parentText" presStyleLbl="node1" presStyleIdx="2" presStyleCnt="4">
        <dgm:presLayoutVars>
          <dgm:chMax val="0"/>
          <dgm:bulletEnabled val="1"/>
        </dgm:presLayoutVars>
      </dgm:prSet>
      <dgm:spPr/>
      <dgm:t>
        <a:bodyPr/>
        <a:lstStyle/>
        <a:p>
          <a:endParaRPr lang="en-US"/>
        </a:p>
      </dgm:t>
    </dgm:pt>
    <dgm:pt modelId="{F2F31C56-DD1D-41A9-8D54-8C9E326F013F}" type="pres">
      <dgm:prSet presAssocID="{92E2036B-EC57-4B98-B5E0-6CEBB853AC77}" presName="negativeSpace" presStyleCnt="0"/>
      <dgm:spPr/>
    </dgm:pt>
    <dgm:pt modelId="{EB45C0E1-CEEC-42F3-97D7-467C96A13DCE}" type="pres">
      <dgm:prSet presAssocID="{92E2036B-EC57-4B98-B5E0-6CEBB853AC77}" presName="childText" presStyleLbl="conFgAcc1" presStyleIdx="2" presStyleCnt="4">
        <dgm:presLayoutVars>
          <dgm:bulletEnabled val="1"/>
        </dgm:presLayoutVars>
      </dgm:prSet>
      <dgm:spPr/>
    </dgm:pt>
    <dgm:pt modelId="{70162A46-E0C4-46DA-921C-DD8260E94FA0}" type="pres">
      <dgm:prSet presAssocID="{37D5F517-CDF3-4DCD-8895-BB72DACC3FFC}" presName="spaceBetweenRectangles" presStyleCnt="0"/>
      <dgm:spPr/>
    </dgm:pt>
    <dgm:pt modelId="{4081970B-CE1F-4242-A29D-A73579BE087B}" type="pres">
      <dgm:prSet presAssocID="{974B433C-BCA2-4BB4-B2FA-3227B627D12D}" presName="parentLin" presStyleCnt="0"/>
      <dgm:spPr/>
    </dgm:pt>
    <dgm:pt modelId="{69FAB266-3B64-40FA-BD47-BC5FA104B49E}" type="pres">
      <dgm:prSet presAssocID="{974B433C-BCA2-4BB4-B2FA-3227B627D12D}" presName="parentLeftMargin" presStyleLbl="node1" presStyleIdx="2" presStyleCnt="4"/>
      <dgm:spPr/>
      <dgm:t>
        <a:bodyPr/>
        <a:lstStyle/>
        <a:p>
          <a:endParaRPr lang="en-US"/>
        </a:p>
      </dgm:t>
    </dgm:pt>
    <dgm:pt modelId="{3CBF2D37-99FF-4FFE-9491-0D953DB5B1D1}" type="pres">
      <dgm:prSet presAssocID="{974B433C-BCA2-4BB4-B2FA-3227B627D12D}" presName="parentText" presStyleLbl="node1" presStyleIdx="3" presStyleCnt="4">
        <dgm:presLayoutVars>
          <dgm:chMax val="0"/>
          <dgm:bulletEnabled val="1"/>
        </dgm:presLayoutVars>
      </dgm:prSet>
      <dgm:spPr/>
      <dgm:t>
        <a:bodyPr/>
        <a:lstStyle/>
        <a:p>
          <a:endParaRPr lang="en-US"/>
        </a:p>
      </dgm:t>
    </dgm:pt>
    <dgm:pt modelId="{192E8B31-44EA-485F-BDAA-82E375B7D246}" type="pres">
      <dgm:prSet presAssocID="{974B433C-BCA2-4BB4-B2FA-3227B627D12D}" presName="negativeSpace" presStyleCnt="0"/>
      <dgm:spPr/>
    </dgm:pt>
    <dgm:pt modelId="{C7FB6F93-E868-4E16-82AF-A0A336206855}" type="pres">
      <dgm:prSet presAssocID="{974B433C-BCA2-4BB4-B2FA-3227B627D12D}" presName="childText" presStyleLbl="conFgAcc1" presStyleIdx="3" presStyleCnt="4">
        <dgm:presLayoutVars>
          <dgm:bulletEnabled val="1"/>
        </dgm:presLayoutVars>
      </dgm:prSet>
      <dgm:spPr/>
    </dgm:pt>
  </dgm:ptLst>
  <dgm:cxnLst>
    <dgm:cxn modelId="{660DB83C-96C9-4582-A604-36B56FE48C93}" type="presOf" srcId="{F7ADCF31-0276-4A5F-8E2B-B2F9808E7B16}" destId="{8B6AF140-F8E2-4421-9699-CC93679309C7}" srcOrd="0" destOrd="0" presId="urn:microsoft.com/office/officeart/2005/8/layout/list1"/>
    <dgm:cxn modelId="{89629B74-1012-4F4D-BC97-620451A3F5E0}" type="presOf" srcId="{92E2036B-EC57-4B98-B5E0-6CEBB853AC77}" destId="{49F38F6B-6A09-4FDD-A0DD-24D7968A3565}" srcOrd="1" destOrd="0" presId="urn:microsoft.com/office/officeart/2005/8/layout/list1"/>
    <dgm:cxn modelId="{626ADEFA-D302-45C7-ADF7-D86AA96A5E7F}" type="presOf" srcId="{974B433C-BCA2-4BB4-B2FA-3227B627D12D}" destId="{69FAB266-3B64-40FA-BD47-BC5FA104B49E}" srcOrd="0" destOrd="0" presId="urn:microsoft.com/office/officeart/2005/8/layout/list1"/>
    <dgm:cxn modelId="{9074580B-35DB-474D-9E6E-B5CA2D97EBC7}" srcId="{F7ADCF31-0276-4A5F-8E2B-B2F9808E7B16}" destId="{42ABF82B-6835-4E57-BB45-B8322AE38A0A}" srcOrd="0" destOrd="0" parTransId="{4F27D687-3272-4DFE-8E7C-0596F1282FD0}" sibTransId="{E488CE89-D6F6-41B3-BCBB-A286E9CFBCA5}"/>
    <dgm:cxn modelId="{2D868B42-EE8B-4D8D-84C8-2F746BBF88B0}" srcId="{F7ADCF31-0276-4A5F-8E2B-B2F9808E7B16}" destId="{1B6C3899-2F00-4E86-BA6D-473A8402BA1F}" srcOrd="1" destOrd="0" parTransId="{A3448602-DFEF-456B-B8DD-A13A62D1CFB6}" sibTransId="{4BA48609-5D02-4665-9112-A76DF73D612A}"/>
    <dgm:cxn modelId="{F9FD2A8A-A06E-481D-AD08-32ACE1B09809}" type="presOf" srcId="{42ABF82B-6835-4E57-BB45-B8322AE38A0A}" destId="{6413660F-9726-4EA7-A480-7147A092823D}" srcOrd="0" destOrd="0" presId="urn:microsoft.com/office/officeart/2005/8/layout/list1"/>
    <dgm:cxn modelId="{668540B2-16D2-4E07-93B5-AB95D53A8506}" type="presOf" srcId="{92E2036B-EC57-4B98-B5E0-6CEBB853AC77}" destId="{85797F90-8E98-4970-B7BA-79125178A896}" srcOrd="0" destOrd="0" presId="urn:microsoft.com/office/officeart/2005/8/layout/list1"/>
    <dgm:cxn modelId="{BE1C2E9A-0396-4EEC-B6B8-10D40DC030B9}" type="presOf" srcId="{1B6C3899-2F00-4E86-BA6D-473A8402BA1F}" destId="{D5A06E8F-D27C-4C52-A428-02D4679065EA}" srcOrd="1" destOrd="0" presId="urn:microsoft.com/office/officeart/2005/8/layout/list1"/>
    <dgm:cxn modelId="{A3EB476E-521D-406C-AD6E-FB6074DE67BE}" type="presOf" srcId="{1B6C3899-2F00-4E86-BA6D-473A8402BA1F}" destId="{4C8E09A6-4A60-490C-81BD-20C58726BD49}" srcOrd="0" destOrd="0" presId="urn:microsoft.com/office/officeart/2005/8/layout/list1"/>
    <dgm:cxn modelId="{C1C3A308-19B5-49A5-9B9D-FBC7AE15AAFD}" srcId="{F7ADCF31-0276-4A5F-8E2B-B2F9808E7B16}" destId="{974B433C-BCA2-4BB4-B2FA-3227B627D12D}" srcOrd="3" destOrd="0" parTransId="{CDF1F926-43A8-4334-BA7F-1DF69AADB6FE}" sibTransId="{507FA463-D766-4161-BA1F-56BB0FE9CCAF}"/>
    <dgm:cxn modelId="{C25B0D32-F46F-47F5-8ECE-F99D6C0B1564}" type="presOf" srcId="{974B433C-BCA2-4BB4-B2FA-3227B627D12D}" destId="{3CBF2D37-99FF-4FFE-9491-0D953DB5B1D1}" srcOrd="1" destOrd="0" presId="urn:microsoft.com/office/officeart/2005/8/layout/list1"/>
    <dgm:cxn modelId="{C46FE7D1-B2B9-42B2-9122-ACA715DAFFFD}" srcId="{F7ADCF31-0276-4A5F-8E2B-B2F9808E7B16}" destId="{92E2036B-EC57-4B98-B5E0-6CEBB853AC77}" srcOrd="2" destOrd="0" parTransId="{F78CA017-4D21-4DF9-B2C4-B7171E359E68}" sibTransId="{37D5F517-CDF3-4DCD-8895-BB72DACC3FFC}"/>
    <dgm:cxn modelId="{BF45C50B-CE71-431C-BE28-4A725BF0BB56}" type="presOf" srcId="{42ABF82B-6835-4E57-BB45-B8322AE38A0A}" destId="{E81230C8-E3C1-4E81-BAD1-7F9D9D4A2A13}" srcOrd="1" destOrd="0" presId="urn:microsoft.com/office/officeart/2005/8/layout/list1"/>
    <dgm:cxn modelId="{CBAA03CC-8995-4D87-99CA-DB29C411858F}" type="presParOf" srcId="{8B6AF140-F8E2-4421-9699-CC93679309C7}" destId="{A2785E70-7F50-411E-B30C-D65796680205}" srcOrd="0" destOrd="0" presId="urn:microsoft.com/office/officeart/2005/8/layout/list1"/>
    <dgm:cxn modelId="{666E7192-7DDA-4A85-9D00-08676786463C}" type="presParOf" srcId="{A2785E70-7F50-411E-B30C-D65796680205}" destId="{6413660F-9726-4EA7-A480-7147A092823D}" srcOrd="0" destOrd="0" presId="urn:microsoft.com/office/officeart/2005/8/layout/list1"/>
    <dgm:cxn modelId="{2681433B-AB33-4020-ACAD-FBEDC17929A9}" type="presParOf" srcId="{A2785E70-7F50-411E-B30C-D65796680205}" destId="{E81230C8-E3C1-4E81-BAD1-7F9D9D4A2A13}" srcOrd="1" destOrd="0" presId="urn:microsoft.com/office/officeart/2005/8/layout/list1"/>
    <dgm:cxn modelId="{0732BF7A-957D-4AAE-A177-13370E5C1811}" type="presParOf" srcId="{8B6AF140-F8E2-4421-9699-CC93679309C7}" destId="{CE381874-09DD-4ECA-BD2C-1AEB841D2B43}" srcOrd="1" destOrd="0" presId="urn:microsoft.com/office/officeart/2005/8/layout/list1"/>
    <dgm:cxn modelId="{5722337A-B71E-416C-89A3-427DB4ECE3BD}" type="presParOf" srcId="{8B6AF140-F8E2-4421-9699-CC93679309C7}" destId="{42528451-1DCD-43A1-BA03-40DBCF33F77E}" srcOrd="2" destOrd="0" presId="urn:microsoft.com/office/officeart/2005/8/layout/list1"/>
    <dgm:cxn modelId="{4C3B9DDE-04D0-48A9-BED8-393C85FB3CF1}" type="presParOf" srcId="{8B6AF140-F8E2-4421-9699-CC93679309C7}" destId="{4AEA6389-4846-4C04-9AA8-896C88F9DB71}" srcOrd="3" destOrd="0" presId="urn:microsoft.com/office/officeart/2005/8/layout/list1"/>
    <dgm:cxn modelId="{B673A4BB-628B-4604-82EE-E0C6ECDC188A}" type="presParOf" srcId="{8B6AF140-F8E2-4421-9699-CC93679309C7}" destId="{C0CDA056-0F62-4058-A123-CAB38F22F38A}" srcOrd="4" destOrd="0" presId="urn:microsoft.com/office/officeart/2005/8/layout/list1"/>
    <dgm:cxn modelId="{EB09E068-5094-4D0F-A908-6932CADC2EB3}" type="presParOf" srcId="{C0CDA056-0F62-4058-A123-CAB38F22F38A}" destId="{4C8E09A6-4A60-490C-81BD-20C58726BD49}" srcOrd="0" destOrd="0" presId="urn:microsoft.com/office/officeart/2005/8/layout/list1"/>
    <dgm:cxn modelId="{DC84630E-EA24-42AF-AFC0-2924A1BCD213}" type="presParOf" srcId="{C0CDA056-0F62-4058-A123-CAB38F22F38A}" destId="{D5A06E8F-D27C-4C52-A428-02D4679065EA}" srcOrd="1" destOrd="0" presId="urn:microsoft.com/office/officeart/2005/8/layout/list1"/>
    <dgm:cxn modelId="{9B45784A-A681-4124-AFE8-F65C238BCF15}" type="presParOf" srcId="{8B6AF140-F8E2-4421-9699-CC93679309C7}" destId="{A57060AE-0C1F-486C-9716-7E33B8EFB31B}" srcOrd="5" destOrd="0" presId="urn:microsoft.com/office/officeart/2005/8/layout/list1"/>
    <dgm:cxn modelId="{EA20B7CA-57EE-4057-ABD2-7D9E644AA171}" type="presParOf" srcId="{8B6AF140-F8E2-4421-9699-CC93679309C7}" destId="{CC542EE4-9475-4BD7-A66D-C4C18091AB02}" srcOrd="6" destOrd="0" presId="urn:microsoft.com/office/officeart/2005/8/layout/list1"/>
    <dgm:cxn modelId="{F6F4F408-7035-446D-8617-4B536846E341}" type="presParOf" srcId="{8B6AF140-F8E2-4421-9699-CC93679309C7}" destId="{0536A69C-4337-4D8A-A4C8-4DA908F78454}" srcOrd="7" destOrd="0" presId="urn:microsoft.com/office/officeart/2005/8/layout/list1"/>
    <dgm:cxn modelId="{8A3B34FC-8844-4B76-8352-ED3B7AF8FF5D}" type="presParOf" srcId="{8B6AF140-F8E2-4421-9699-CC93679309C7}" destId="{0369AD66-7C34-4169-B94F-63A38D5CCB0D}" srcOrd="8" destOrd="0" presId="urn:microsoft.com/office/officeart/2005/8/layout/list1"/>
    <dgm:cxn modelId="{4E77A9CC-5523-480A-B5B3-FD0A62B882EC}" type="presParOf" srcId="{0369AD66-7C34-4169-B94F-63A38D5CCB0D}" destId="{85797F90-8E98-4970-B7BA-79125178A896}" srcOrd="0" destOrd="0" presId="urn:microsoft.com/office/officeart/2005/8/layout/list1"/>
    <dgm:cxn modelId="{9CF09D9A-78E9-4257-9DFC-CB36A95700E2}" type="presParOf" srcId="{0369AD66-7C34-4169-B94F-63A38D5CCB0D}" destId="{49F38F6B-6A09-4FDD-A0DD-24D7968A3565}" srcOrd="1" destOrd="0" presId="urn:microsoft.com/office/officeart/2005/8/layout/list1"/>
    <dgm:cxn modelId="{4548B1BA-1911-412A-A08C-E6ADB0EBC73E}" type="presParOf" srcId="{8B6AF140-F8E2-4421-9699-CC93679309C7}" destId="{F2F31C56-DD1D-41A9-8D54-8C9E326F013F}" srcOrd="9" destOrd="0" presId="urn:microsoft.com/office/officeart/2005/8/layout/list1"/>
    <dgm:cxn modelId="{F5AE563D-F714-4423-9B35-55375736DEB1}" type="presParOf" srcId="{8B6AF140-F8E2-4421-9699-CC93679309C7}" destId="{EB45C0E1-CEEC-42F3-97D7-467C96A13DCE}" srcOrd="10" destOrd="0" presId="urn:microsoft.com/office/officeart/2005/8/layout/list1"/>
    <dgm:cxn modelId="{9250DC53-F1F4-4EDB-BC8F-A1BAD93089A5}" type="presParOf" srcId="{8B6AF140-F8E2-4421-9699-CC93679309C7}" destId="{70162A46-E0C4-46DA-921C-DD8260E94FA0}" srcOrd="11" destOrd="0" presId="urn:microsoft.com/office/officeart/2005/8/layout/list1"/>
    <dgm:cxn modelId="{0EA84290-5667-49E9-BE5C-3DFBAFEE90BE}" type="presParOf" srcId="{8B6AF140-F8E2-4421-9699-CC93679309C7}" destId="{4081970B-CE1F-4242-A29D-A73579BE087B}" srcOrd="12" destOrd="0" presId="urn:microsoft.com/office/officeart/2005/8/layout/list1"/>
    <dgm:cxn modelId="{23CA274B-986B-4AAF-B15A-DCEA3EF0F25B}" type="presParOf" srcId="{4081970B-CE1F-4242-A29D-A73579BE087B}" destId="{69FAB266-3B64-40FA-BD47-BC5FA104B49E}" srcOrd="0" destOrd="0" presId="urn:microsoft.com/office/officeart/2005/8/layout/list1"/>
    <dgm:cxn modelId="{6493FA1F-BB63-46E2-9D13-95BDF7A235FA}" type="presParOf" srcId="{4081970B-CE1F-4242-A29D-A73579BE087B}" destId="{3CBF2D37-99FF-4FFE-9491-0D953DB5B1D1}" srcOrd="1" destOrd="0" presId="urn:microsoft.com/office/officeart/2005/8/layout/list1"/>
    <dgm:cxn modelId="{46633F17-0902-41CD-8B80-6214D8F4B1CE}" type="presParOf" srcId="{8B6AF140-F8E2-4421-9699-CC93679309C7}" destId="{192E8B31-44EA-485F-BDAA-82E375B7D246}" srcOrd="13" destOrd="0" presId="urn:microsoft.com/office/officeart/2005/8/layout/list1"/>
    <dgm:cxn modelId="{03663653-3A25-445D-A6F7-F98C85611AC5}" type="presParOf" srcId="{8B6AF140-F8E2-4421-9699-CC93679309C7}" destId="{C7FB6F93-E868-4E16-82AF-A0A336206855}"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28451-1DCD-43A1-BA03-40DBCF33F77E}">
      <dsp:nvSpPr>
        <dsp:cNvPr id="0" name=""/>
        <dsp:cNvSpPr/>
      </dsp:nvSpPr>
      <dsp:spPr>
        <a:xfrm>
          <a:off x="0" y="1170873"/>
          <a:ext cx="812800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1230C8-E3C1-4E81-BAD1-7F9D9D4A2A13}">
      <dsp:nvSpPr>
        <dsp:cNvPr id="0" name=""/>
        <dsp:cNvSpPr/>
      </dsp:nvSpPr>
      <dsp:spPr>
        <a:xfrm>
          <a:off x="406400" y="860913"/>
          <a:ext cx="5689600" cy="619920"/>
        </a:xfrm>
        <a:prstGeom prst="roundRect">
          <a:avLst/>
        </a:prstGeom>
        <a:solidFill>
          <a:schemeClr val="bg2">
            <a:lumMod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lvl="0" algn="l" defTabSz="933450">
            <a:lnSpc>
              <a:spcPct val="90000"/>
            </a:lnSpc>
            <a:spcBef>
              <a:spcPct val="0"/>
            </a:spcBef>
            <a:spcAft>
              <a:spcPct val="35000"/>
            </a:spcAft>
          </a:pPr>
          <a:r>
            <a:rPr lang="en-US" sz="2100" kern="1200" dirty="0" smtClean="0">
              <a:solidFill>
                <a:schemeClr val="tx1"/>
              </a:solidFill>
            </a:rPr>
            <a:t>Layer 1: Data Ingestion &amp;Normalization</a:t>
          </a:r>
          <a:endParaRPr lang="en-US" sz="2100" kern="1200" dirty="0">
            <a:solidFill>
              <a:schemeClr val="tx1"/>
            </a:solidFill>
          </a:endParaRPr>
        </a:p>
      </dsp:txBody>
      <dsp:txXfrm>
        <a:off x="436662" y="891175"/>
        <a:ext cx="5629076" cy="559396"/>
      </dsp:txXfrm>
    </dsp:sp>
    <dsp:sp modelId="{CC542EE4-9475-4BD7-A66D-C4C18091AB02}">
      <dsp:nvSpPr>
        <dsp:cNvPr id="0" name=""/>
        <dsp:cNvSpPr/>
      </dsp:nvSpPr>
      <dsp:spPr>
        <a:xfrm>
          <a:off x="0" y="2123433"/>
          <a:ext cx="812800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A06E8F-D27C-4C52-A428-02D4679065EA}">
      <dsp:nvSpPr>
        <dsp:cNvPr id="0" name=""/>
        <dsp:cNvSpPr/>
      </dsp:nvSpPr>
      <dsp:spPr>
        <a:xfrm>
          <a:off x="406400" y="1813473"/>
          <a:ext cx="5689600" cy="619920"/>
        </a:xfrm>
        <a:prstGeom prst="roundRect">
          <a:avLst/>
        </a:prstGeom>
        <a:solidFill>
          <a:schemeClr val="bg2">
            <a:lumMod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lvl="0" algn="l" defTabSz="933450">
            <a:lnSpc>
              <a:spcPct val="90000"/>
            </a:lnSpc>
            <a:spcBef>
              <a:spcPct val="0"/>
            </a:spcBef>
            <a:spcAft>
              <a:spcPct val="35000"/>
            </a:spcAft>
          </a:pPr>
          <a:r>
            <a:rPr lang="en-US" sz="2100" kern="1200" dirty="0" smtClean="0">
              <a:solidFill>
                <a:schemeClr val="tx1"/>
              </a:solidFill>
            </a:rPr>
            <a:t>Layer 2: </a:t>
          </a:r>
          <a:r>
            <a:rPr lang="en-US" sz="2100" kern="1200" dirty="0" err="1" smtClean="0">
              <a:solidFill>
                <a:schemeClr val="tx1"/>
              </a:solidFill>
            </a:rPr>
            <a:t>ReAct</a:t>
          </a:r>
          <a:r>
            <a:rPr lang="en-US" sz="2100" kern="1200" dirty="0" smtClean="0">
              <a:solidFill>
                <a:schemeClr val="tx1"/>
              </a:solidFill>
            </a:rPr>
            <a:t> core (Investigation Only)</a:t>
          </a:r>
          <a:endParaRPr lang="en-US" sz="2100" kern="1200" dirty="0">
            <a:solidFill>
              <a:schemeClr val="tx1"/>
            </a:solidFill>
          </a:endParaRPr>
        </a:p>
      </dsp:txBody>
      <dsp:txXfrm>
        <a:off x="436662" y="1843735"/>
        <a:ext cx="5629076" cy="559396"/>
      </dsp:txXfrm>
    </dsp:sp>
    <dsp:sp modelId="{EB45C0E1-CEEC-42F3-97D7-467C96A13DCE}">
      <dsp:nvSpPr>
        <dsp:cNvPr id="0" name=""/>
        <dsp:cNvSpPr/>
      </dsp:nvSpPr>
      <dsp:spPr>
        <a:xfrm>
          <a:off x="0" y="3075993"/>
          <a:ext cx="812800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F38F6B-6A09-4FDD-A0DD-24D7968A3565}">
      <dsp:nvSpPr>
        <dsp:cNvPr id="0" name=""/>
        <dsp:cNvSpPr/>
      </dsp:nvSpPr>
      <dsp:spPr>
        <a:xfrm>
          <a:off x="406400" y="2766033"/>
          <a:ext cx="5689600" cy="619920"/>
        </a:xfrm>
        <a:prstGeom prst="roundRect">
          <a:avLst/>
        </a:prstGeom>
        <a:solidFill>
          <a:schemeClr val="bg2">
            <a:lumMod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lvl="0" algn="l" defTabSz="933450">
            <a:lnSpc>
              <a:spcPct val="90000"/>
            </a:lnSpc>
            <a:spcBef>
              <a:spcPct val="0"/>
            </a:spcBef>
            <a:spcAft>
              <a:spcPct val="35000"/>
            </a:spcAft>
          </a:pPr>
          <a:r>
            <a:rPr lang="en-US" sz="2100" kern="1200" dirty="0" smtClean="0">
              <a:solidFill>
                <a:schemeClr val="tx1"/>
              </a:solidFill>
            </a:rPr>
            <a:t>Layer 3: Safety Gate (</a:t>
          </a:r>
          <a:r>
            <a:rPr lang="en-US" sz="2100" kern="1200" dirty="0" err="1" smtClean="0">
              <a:solidFill>
                <a:schemeClr val="tx1"/>
              </a:solidFill>
            </a:rPr>
            <a:t>Determimistic</a:t>
          </a:r>
          <a:r>
            <a:rPr lang="en-US" sz="2100" kern="1200" dirty="0" smtClean="0">
              <a:solidFill>
                <a:schemeClr val="tx1"/>
              </a:solidFill>
            </a:rPr>
            <a:t> Validation)</a:t>
          </a:r>
          <a:endParaRPr lang="en-US" sz="2100" kern="1200" dirty="0">
            <a:solidFill>
              <a:schemeClr val="tx1"/>
            </a:solidFill>
          </a:endParaRPr>
        </a:p>
      </dsp:txBody>
      <dsp:txXfrm>
        <a:off x="436662" y="2796295"/>
        <a:ext cx="5629076" cy="559396"/>
      </dsp:txXfrm>
    </dsp:sp>
    <dsp:sp modelId="{C7FB6F93-E868-4E16-82AF-A0A336206855}">
      <dsp:nvSpPr>
        <dsp:cNvPr id="0" name=""/>
        <dsp:cNvSpPr/>
      </dsp:nvSpPr>
      <dsp:spPr>
        <a:xfrm>
          <a:off x="0" y="4028553"/>
          <a:ext cx="812800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BF2D37-99FF-4FFE-9491-0D953DB5B1D1}">
      <dsp:nvSpPr>
        <dsp:cNvPr id="0" name=""/>
        <dsp:cNvSpPr/>
      </dsp:nvSpPr>
      <dsp:spPr>
        <a:xfrm>
          <a:off x="406400" y="3718593"/>
          <a:ext cx="5689600" cy="619920"/>
        </a:xfrm>
        <a:prstGeom prst="roundRect">
          <a:avLst/>
        </a:prstGeom>
        <a:solidFill>
          <a:schemeClr val="bg2">
            <a:lumMod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lvl="0" algn="l" defTabSz="933450">
            <a:lnSpc>
              <a:spcPct val="90000"/>
            </a:lnSpc>
            <a:spcBef>
              <a:spcPct val="0"/>
            </a:spcBef>
            <a:spcAft>
              <a:spcPct val="35000"/>
            </a:spcAft>
          </a:pPr>
          <a:r>
            <a:rPr lang="en-US" sz="2100" kern="1200" dirty="0" smtClean="0">
              <a:solidFill>
                <a:schemeClr val="tx1"/>
              </a:solidFill>
            </a:rPr>
            <a:t>Layer 4: Execution &amp; Audit</a:t>
          </a:r>
          <a:endParaRPr lang="en-US" sz="2100" kern="1200" dirty="0">
            <a:solidFill>
              <a:schemeClr val="tx1"/>
            </a:solidFill>
          </a:endParaRPr>
        </a:p>
      </dsp:txBody>
      <dsp:txXfrm>
        <a:off x="436662" y="3748855"/>
        <a:ext cx="5629076"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6930265" name="Slide Image Placeholder 1"/>
          <p:cNvSpPr>
            <a:spLocks noGrp="1" noRot="1" noChangeAspect="1"/>
          </p:cNvSpPr>
          <p:nvPr>
            <p:ph type="sldImg" idx="2"/>
          </p:nvPr>
        </p:nvSpPr>
        <p:spPr bwMode="auto"/>
      </p:sp>
      <p:sp>
        <p:nvSpPr>
          <p:cNvPr id="2038254005" name="Notes Placeholder 2"/>
          <p:cNvSpPr>
            <a:spLocks noGrp="1"/>
          </p:cNvSpPr>
          <p:nvPr>
            <p:ph type="body" sz="quarter" idx="3"/>
          </p:nvPr>
        </p:nvSpPr>
        <p:spPr bwMode="auto"/>
        <p:txBody>
          <a:bodyPr/>
          <a:lstStyle/>
          <a:p>
            <a:pPr>
              <a:defRPr/>
            </a:pPr>
            <a:r>
              <a:rPr/>
              <a:t>Good morning everyone. We are Omar, Louay, and Hamza, graduating students in Intelligent Information Security Systems Engineering at Syrian Private University, supervised by Dr. Waseem Juneidi and Eng. Ahmad Shekha. Our graduation project is LOTL-ARIA — an agentic AI security supervisor that autonomously investigates Linux living-off-the-land attacks and proposes graded responses.</a:t>
            </a:r>
          </a:p>
        </p:txBody>
      </p:sp>
      <p:sp>
        <p:nvSpPr>
          <p:cNvPr id="296648613"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3881206" name="Slide Image Placeholder 1"/>
          <p:cNvSpPr>
            <a:spLocks noGrp="1" noRot="1" noChangeAspect="1"/>
          </p:cNvSpPr>
          <p:nvPr>
            <p:ph type="sldImg" idx="2"/>
          </p:nvPr>
        </p:nvSpPr>
        <p:spPr bwMode="auto"/>
      </p:sp>
      <p:sp>
        <p:nvSpPr>
          <p:cNvPr id="1234993957" name="Notes Placeholder 2"/>
          <p:cNvSpPr>
            <a:spLocks noGrp="1"/>
          </p:cNvSpPr>
          <p:nvPr>
            <p:ph type="body" sz="quarter" idx="3"/>
          </p:nvPr>
        </p:nvSpPr>
        <p:spPr bwMode="auto"/>
        <p:txBody>
          <a:bodyPr/>
          <a:lstStyle/>
          <a:p>
            <a:pPr>
              <a:defRPr/>
            </a:pPr>
            <a:r>
              <a:rPr/>
              <a:t>LOTL-ARIA is an agentic LLM framework that investigates Linux living-off-the-land attacks and proposes graded responses. It sits one step beyond today's pipeline: rule-based systems and ML detectors both stop at passive classification. LOTL-ARIA takes their alerts and investigates them using Wazuh SIEM for real-time log ingestion and response hooks.</a:t>
            </a:r>
          </a:p>
        </p:txBody>
      </p:sp>
      <p:sp>
        <p:nvSpPr>
          <p:cNvPr id="81822008"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79674847" name="Slide Image Placeholder 1"/>
          <p:cNvSpPr>
            <a:spLocks noGrp="1" noRot="1" noChangeAspect="1"/>
          </p:cNvSpPr>
          <p:nvPr>
            <p:ph type="sldImg" idx="2"/>
          </p:nvPr>
        </p:nvSpPr>
        <p:spPr bwMode="auto"/>
      </p:sp>
      <p:sp>
        <p:nvSpPr>
          <p:cNvPr id="843188647" name="Notes Placeholder 2"/>
          <p:cNvSpPr>
            <a:spLocks noGrp="1"/>
          </p:cNvSpPr>
          <p:nvPr>
            <p:ph type="body" sz="quarter" idx="3"/>
          </p:nvPr>
        </p:nvSpPr>
        <p:spPr bwMode="auto"/>
        <p:txBody>
          <a:bodyPr/>
          <a:lstStyle/>
          <a:p>
            <a:pPr>
              <a:defRPr/>
            </a:pPr>
            <a:r>
              <a:rPr/>
              <a:t>These three gaps come directly from our foundational paper, LOTLDetector (2026), and they define our problem. First, lack of contextual understanding: ML evaluates each command in isolation. Second, absence of explainability: black-box models cannot justify their decisions. Third, no response capability: current systems detect but cannot autonomously act. Our project is designed to solve all three.</a:t>
            </a:r>
          </a:p>
        </p:txBody>
      </p:sp>
      <p:sp>
        <p:nvSpPr>
          <p:cNvPr id="23819406"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9013563" name="Slide Image Placeholder 1"/>
          <p:cNvSpPr>
            <a:spLocks noGrp="1" noRot="1" noChangeAspect="1"/>
          </p:cNvSpPr>
          <p:nvPr>
            <p:ph type="sldImg" idx="2"/>
          </p:nvPr>
        </p:nvSpPr>
        <p:spPr bwMode="auto"/>
      </p:sp>
      <p:sp>
        <p:nvSpPr>
          <p:cNvPr id="911955222" name="Notes Placeholder 2"/>
          <p:cNvSpPr>
            <a:spLocks noGrp="1"/>
          </p:cNvSpPr>
          <p:nvPr>
            <p:ph type="body" sz="quarter" idx="3"/>
          </p:nvPr>
        </p:nvSpPr>
        <p:spPr bwMode="auto"/>
        <p:txBody>
          <a:bodyPr/>
          <a:lstStyle/>
          <a:p>
            <a:pPr>
              <a:defRPr/>
            </a:pPr>
            <a:r>
              <a:rPr/>
              <a:t>Part 1 covers the foundations. LOTLDetector is our foundational paper and the ML baseline for RQ1, but it lacks context. RACONTEUR explains shell commands with an LLM but stays passive — we extend that into active investigation. The 2025 risk assessment work gives us graded R0–R4 scoring, which underpins our graded response. SENTINEL validates our obfuscation datasets, Supervised LOLBins shows why an LLM approach needs no large labels, and BlueSTAR inspires our rules/AI split architecture.</a:t>
            </a:r>
          </a:p>
        </p:txBody>
      </p:sp>
      <p:sp>
        <p:nvSpPr>
          <p:cNvPr id="1672959015"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9488536" name="Slide Image Placeholder 1"/>
          <p:cNvSpPr>
            <a:spLocks noGrp="1" noRot="1" noChangeAspect="1"/>
          </p:cNvSpPr>
          <p:nvPr>
            <p:ph type="sldImg" idx="2"/>
          </p:nvPr>
        </p:nvSpPr>
        <p:spPr bwMode="auto"/>
      </p:sp>
      <p:sp>
        <p:nvSpPr>
          <p:cNvPr id="331169680" name="Notes Placeholder 2"/>
          <p:cNvSpPr>
            <a:spLocks noGrp="1"/>
          </p:cNvSpPr>
          <p:nvPr>
            <p:ph type="body" sz="quarter" idx="3"/>
          </p:nvPr>
        </p:nvSpPr>
        <p:spPr bwMode="auto"/>
        <p:txBody>
          <a:bodyPr/>
          <a:lstStyle/>
          <a:p>
            <a:pPr>
              <a:defRPr/>
            </a:pPr>
            <a:r>
              <a:rPr/>
              <a:t>Part 2 covers the agentic era. AgentSOC built a multi-layer agentic SOC but only in dry-run mode — we fix that with controlled live execution. Hyper-Auto SOAR showed the safety risks of dynamic AI playbooks, which motivates our deterministic Safety Gate. GIRA's 5-layer gate informs our design. Finally, Poisoning Watchtower and LogJack demonstrate prompt injection through log content, which is why our Action Tools are strictly isolated from the Agent.</a:t>
            </a:r>
          </a:p>
        </p:txBody>
      </p:sp>
      <p:sp>
        <p:nvSpPr>
          <p:cNvPr id="1459785176"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66617672" name="Slide Image Placeholder 1"/>
          <p:cNvSpPr>
            <a:spLocks noGrp="1" noRot="1" noChangeAspect="1"/>
          </p:cNvSpPr>
          <p:nvPr>
            <p:ph type="sldImg" idx="2"/>
          </p:nvPr>
        </p:nvSpPr>
        <p:spPr bwMode="auto"/>
      </p:sp>
      <p:sp>
        <p:nvSpPr>
          <p:cNvPr id="1870910539" name="Notes Placeholder 2"/>
          <p:cNvSpPr>
            <a:spLocks noGrp="1"/>
          </p:cNvSpPr>
          <p:nvPr>
            <p:ph type="body" sz="quarter" idx="3"/>
          </p:nvPr>
        </p:nvSpPr>
        <p:spPr bwMode="auto"/>
        <p:txBody>
          <a:bodyPr/>
          <a:lstStyle/>
          <a:p>
            <a:pPr>
              <a:defRPr/>
            </a:pPr>
            <a:r>
              <a:rPr/>
              <a:t>Our three solutions map one-to-one onto the gaps. Solution 1 is a glass-box ReAct agent: a transparent reasoning loop with read-only investigation tools, solving both context and explainability. Solution 2 is graded autonomous response — R0 to R4 style actions from monitor to isolate — solving the no-response gap. Solution 3 is a multi-layer deterministic Safety Gate that intercepts every proposed action, defending against prompt injection.</a:t>
            </a:r>
          </a:p>
        </p:txBody>
      </p:sp>
      <p:sp>
        <p:nvSpPr>
          <p:cNvPr id="343318411"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193636" name="Slide Image Placeholder 1"/>
          <p:cNvSpPr>
            <a:spLocks noGrp="1" noRot="1" noChangeAspect="1"/>
          </p:cNvSpPr>
          <p:nvPr>
            <p:ph type="sldImg" idx="2"/>
          </p:nvPr>
        </p:nvSpPr>
        <p:spPr bwMode="auto"/>
      </p:sp>
      <p:sp>
        <p:nvSpPr>
          <p:cNvPr id="60574531" name="Notes Placeholder 2"/>
          <p:cNvSpPr>
            <a:spLocks noGrp="1"/>
          </p:cNvSpPr>
          <p:nvPr>
            <p:ph type="body" sz="quarter" idx="3"/>
          </p:nvPr>
        </p:nvSpPr>
        <p:spPr bwMode="auto"/>
        <p:txBody>
          <a:bodyPr/>
          <a:lstStyle/>
          <a:p>
            <a:pPr>
              <a:defRPr/>
            </a:pPr>
            <a:r>
              <a:rPr/>
              <a:t>Our stack: Wazuh SIEM for log collection, alerting, and response hooks; Python with LangGraph for the core implementation and agent orchestration; GPT-OSS served through Ollama for fully local, private LLM inference — no data leaves the lab; VirtualBox for our Ubuntu, Kali, and Windows test environments; and SQLite for investigation and audit storage.</a:t>
            </a:r>
          </a:p>
        </p:txBody>
      </p:sp>
      <p:sp>
        <p:nvSpPr>
          <p:cNvPr id="1434308318"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89497460" name="Slide Image Placeholder 1"/>
          <p:cNvSpPr>
            <a:spLocks noGrp="1" noRot="1" noChangeAspect="1"/>
          </p:cNvSpPr>
          <p:nvPr>
            <p:ph type="sldImg" idx="2"/>
          </p:nvPr>
        </p:nvSpPr>
        <p:spPr bwMode="auto"/>
      </p:sp>
      <p:sp>
        <p:nvSpPr>
          <p:cNvPr id="1912113984" name="Notes Placeholder 2"/>
          <p:cNvSpPr>
            <a:spLocks noGrp="1"/>
          </p:cNvSpPr>
          <p:nvPr>
            <p:ph type="body" sz="quarter" idx="3"/>
          </p:nvPr>
        </p:nvSpPr>
        <p:spPr bwMode="auto"/>
        <p:txBody>
          <a:bodyPr/>
          <a:lstStyle/>
          <a:p>
            <a:pPr>
              <a:defRPr/>
            </a:pPr>
            <a:r>
              <a:rPr/>
              <a:t>To conclude: LOTL-ARIA makes autonomous SOC agents safe, reliable, and context-aware — moving the industry from passive detection to transparent investigation and controlled response. The Safety Gate keeps it safe, the audit trail keeps it reliable, and the ReAct investigation keeps it context-aware. Thank you — we are happy to take questions.</a:t>
            </a:r>
          </a:p>
        </p:txBody>
      </p:sp>
      <p:sp>
        <p:nvSpPr>
          <p:cNvPr id="1516089109"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76957364" name="Slide Image Placeholder 1"/>
          <p:cNvSpPr>
            <a:spLocks noGrp="1" noRot="1" noChangeAspect="1"/>
          </p:cNvSpPr>
          <p:nvPr>
            <p:ph type="sldImg" idx="2"/>
          </p:nvPr>
        </p:nvSpPr>
        <p:spPr bwMode="auto"/>
      </p:sp>
      <p:sp>
        <p:nvSpPr>
          <p:cNvPr id="1543798434" name="Notes Placeholder 2"/>
          <p:cNvSpPr>
            <a:spLocks noGrp="1"/>
          </p:cNvSpPr>
          <p:nvPr>
            <p:ph type="body" sz="quarter" idx="3"/>
          </p:nvPr>
        </p:nvSpPr>
        <p:spPr bwMode="auto"/>
        <p:txBody>
          <a:bodyPr/>
          <a:lstStyle/>
          <a:p>
            <a:pPr>
              <a:defRPr/>
            </a:pPr>
            <a:r>
              <a:rPr/>
              <a:t>This flowchart traces one event end to end. Wazuh reads the raw log, the manager decodes it, our Flask webhook receives it, and we normalize, de-obfuscate, and de-duplicate. The ReAct agent then loops: THOUGHT generates malicious and benign hypotheses, ACTION invokes one investigation tool, OBSERVATION updates confidence. When confidence reaches 0.8, the agent proposes a final action, which must pass all four Safety Gate layers before execution — or it is blocked, escalated, or queued for human approval. Every decision lands in the audit database.</a:t>
            </a:r>
          </a:p>
        </p:txBody>
      </p:sp>
      <p:sp>
        <p:nvSpPr>
          <p:cNvPr id="1220371092"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56962124" name="Title 1"/>
          <p:cNvSpPr>
            <a:spLocks noGrp="1"/>
          </p:cNvSpPr>
          <p:nvPr>
            <p:ph type="ctrTitle"/>
          </p:nvPr>
        </p:nvSpPr>
        <p:spPr bwMode="auto">
          <a:xfrm>
            <a:off x="685800" y="2130425"/>
            <a:ext cx="7772400" cy="1470025"/>
          </a:xfrm>
        </p:spPr>
        <p:txBody>
          <a:bodyPr/>
          <a:lstStyle/>
          <a:p>
            <a:pPr>
              <a:defRPr/>
            </a:pPr>
            <a:r>
              <a:rPr lang="en-US"/>
              <a:t>Click to edit Master title style</a:t>
            </a:r>
          </a:p>
        </p:txBody>
      </p:sp>
      <p:sp>
        <p:nvSpPr>
          <p:cNvPr id="82744504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338192373" name="Date Placeholder 3"/>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1907287811" name="Footer Placeholder 4"/>
          <p:cNvSpPr>
            <a:spLocks noGrp="1"/>
          </p:cNvSpPr>
          <p:nvPr>
            <p:ph type="ftr" sz="quarter" idx="11"/>
          </p:nvPr>
        </p:nvSpPr>
        <p:spPr bwMode="auto"/>
        <p:txBody>
          <a:bodyPr/>
          <a:lstStyle/>
          <a:p>
            <a:pPr>
              <a:defRPr/>
            </a:pPr>
            <a:endParaRPr lang="en-US"/>
          </a:p>
        </p:txBody>
      </p:sp>
      <p:sp>
        <p:nvSpPr>
          <p:cNvPr id="174562424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769789277" name="Title 1"/>
          <p:cNvSpPr>
            <a:spLocks noGrp="1"/>
          </p:cNvSpPr>
          <p:nvPr>
            <p:ph type="title"/>
          </p:nvPr>
        </p:nvSpPr>
        <p:spPr bwMode="auto"/>
        <p:txBody>
          <a:bodyPr/>
          <a:lstStyle/>
          <a:p>
            <a:pPr>
              <a:defRPr/>
            </a:pPr>
            <a:r>
              <a:rPr lang="en-US"/>
              <a:t>Click to edit Master title style</a:t>
            </a:r>
          </a:p>
        </p:txBody>
      </p:sp>
      <p:sp>
        <p:nvSpPr>
          <p:cNvPr id="226069961"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044819174" name="Date Placeholder 3"/>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2093066474" name="Footer Placeholder 4"/>
          <p:cNvSpPr>
            <a:spLocks noGrp="1"/>
          </p:cNvSpPr>
          <p:nvPr>
            <p:ph type="ftr" sz="quarter" idx="11"/>
          </p:nvPr>
        </p:nvSpPr>
        <p:spPr bwMode="auto"/>
        <p:txBody>
          <a:bodyPr/>
          <a:lstStyle/>
          <a:p>
            <a:pPr>
              <a:defRPr/>
            </a:pPr>
            <a:endParaRPr lang="en-US"/>
          </a:p>
        </p:txBody>
      </p:sp>
      <p:sp>
        <p:nvSpPr>
          <p:cNvPr id="75069328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878027458"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p>
        </p:txBody>
      </p:sp>
      <p:sp>
        <p:nvSpPr>
          <p:cNvPr id="1817211741"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212029435" name="Date Placeholder 3"/>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1452077913" name="Footer Placeholder 4"/>
          <p:cNvSpPr>
            <a:spLocks noGrp="1"/>
          </p:cNvSpPr>
          <p:nvPr>
            <p:ph type="ftr" sz="quarter" idx="11"/>
          </p:nvPr>
        </p:nvSpPr>
        <p:spPr bwMode="auto"/>
        <p:txBody>
          <a:bodyPr/>
          <a:lstStyle/>
          <a:p>
            <a:pPr>
              <a:defRPr/>
            </a:pPr>
            <a:endParaRPr lang="en-US"/>
          </a:p>
        </p:txBody>
      </p:sp>
      <p:sp>
        <p:nvSpPr>
          <p:cNvPr id="20389732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511831730" name="Title 1"/>
          <p:cNvSpPr>
            <a:spLocks noGrp="1"/>
          </p:cNvSpPr>
          <p:nvPr>
            <p:ph type="title"/>
          </p:nvPr>
        </p:nvSpPr>
        <p:spPr bwMode="auto"/>
        <p:txBody>
          <a:bodyPr/>
          <a:lstStyle/>
          <a:p>
            <a:pPr>
              <a:defRPr/>
            </a:pPr>
            <a:r>
              <a:rPr lang="en-US"/>
              <a:t>Click to edit Master title style</a:t>
            </a:r>
          </a:p>
        </p:txBody>
      </p:sp>
      <p:sp>
        <p:nvSpPr>
          <p:cNvPr id="64400306"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97519027"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044484918" name="Date Placeholder 4"/>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1443018460" name="Footer Placeholder 5"/>
          <p:cNvSpPr>
            <a:spLocks noGrp="1"/>
          </p:cNvSpPr>
          <p:nvPr>
            <p:ph type="ftr" sz="quarter" idx="11"/>
          </p:nvPr>
        </p:nvSpPr>
        <p:spPr bwMode="auto"/>
        <p:txBody>
          <a:bodyPr/>
          <a:lstStyle/>
          <a:p>
            <a:pPr>
              <a:defRPr/>
            </a:pPr>
            <a:endParaRPr lang="en-US"/>
          </a:p>
        </p:txBody>
      </p:sp>
      <p:sp>
        <p:nvSpPr>
          <p:cNvPr id="192441916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852232733" name="Title 1"/>
          <p:cNvSpPr>
            <a:spLocks noGrp="1"/>
          </p:cNvSpPr>
          <p:nvPr>
            <p:ph type="title"/>
          </p:nvPr>
        </p:nvSpPr>
        <p:spPr bwMode="auto"/>
        <p:txBody>
          <a:bodyPr/>
          <a:lstStyle>
            <a:lvl1pPr>
              <a:defRPr/>
            </a:lvl1pPr>
          </a:lstStyle>
          <a:p>
            <a:pPr>
              <a:defRPr/>
            </a:pPr>
            <a:r>
              <a:rPr lang="en-US"/>
              <a:t>Click to edit Master title style</a:t>
            </a:r>
          </a:p>
        </p:txBody>
      </p:sp>
      <p:sp>
        <p:nvSpPr>
          <p:cNvPr id="53073900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95065381"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00324559"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68968272"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160898300" name="Date Placeholder 6"/>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159496767" name="Footer Placeholder 7"/>
          <p:cNvSpPr>
            <a:spLocks noGrp="1"/>
          </p:cNvSpPr>
          <p:nvPr>
            <p:ph type="ftr" sz="quarter" idx="11"/>
          </p:nvPr>
        </p:nvSpPr>
        <p:spPr bwMode="auto"/>
        <p:txBody>
          <a:bodyPr/>
          <a:lstStyle/>
          <a:p>
            <a:pPr>
              <a:defRPr/>
            </a:pPr>
            <a:endParaRPr lang="en-US"/>
          </a:p>
        </p:txBody>
      </p:sp>
      <p:sp>
        <p:nvSpPr>
          <p:cNvPr id="719121438"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865309137" name="Title 1"/>
          <p:cNvSpPr>
            <a:spLocks noGrp="1"/>
          </p:cNvSpPr>
          <p:nvPr>
            <p:ph type="title"/>
          </p:nvPr>
        </p:nvSpPr>
        <p:spPr bwMode="auto"/>
        <p:txBody>
          <a:bodyPr/>
          <a:lstStyle/>
          <a:p>
            <a:pPr>
              <a:defRPr/>
            </a:pPr>
            <a:r>
              <a:rPr lang="en-US"/>
              <a:t>Click to edit Master title style</a:t>
            </a:r>
          </a:p>
        </p:txBody>
      </p:sp>
      <p:sp>
        <p:nvSpPr>
          <p:cNvPr id="2097418507" name="Date Placeholder 2"/>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1790063403" name="Footer Placeholder 3"/>
          <p:cNvSpPr>
            <a:spLocks noGrp="1"/>
          </p:cNvSpPr>
          <p:nvPr>
            <p:ph type="ftr" sz="quarter" idx="11"/>
          </p:nvPr>
        </p:nvSpPr>
        <p:spPr bwMode="auto"/>
        <p:txBody>
          <a:bodyPr/>
          <a:lstStyle/>
          <a:p>
            <a:pPr>
              <a:defRPr/>
            </a:pPr>
            <a:endParaRPr lang="en-US"/>
          </a:p>
        </p:txBody>
      </p:sp>
      <p:sp>
        <p:nvSpPr>
          <p:cNvPr id="2101370928"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008760131" name="Date Placeholder 1"/>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448465486" name="Footer Placeholder 2"/>
          <p:cNvSpPr>
            <a:spLocks noGrp="1"/>
          </p:cNvSpPr>
          <p:nvPr>
            <p:ph type="ftr" sz="quarter" idx="11"/>
          </p:nvPr>
        </p:nvSpPr>
        <p:spPr bwMode="auto"/>
        <p:txBody>
          <a:bodyPr/>
          <a:lstStyle/>
          <a:p>
            <a:pPr>
              <a:defRPr/>
            </a:pPr>
            <a:endParaRPr lang="en-US"/>
          </a:p>
        </p:txBody>
      </p:sp>
      <p:sp>
        <p:nvSpPr>
          <p:cNvPr id="335717136"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111341378"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p>
        </p:txBody>
      </p:sp>
      <p:sp>
        <p:nvSpPr>
          <p:cNvPr id="53144766"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769867873"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83062003" name="Date Placeholder 4"/>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1552553624" name="Footer Placeholder 5"/>
          <p:cNvSpPr>
            <a:spLocks noGrp="1"/>
          </p:cNvSpPr>
          <p:nvPr>
            <p:ph type="ftr" sz="quarter" idx="11"/>
          </p:nvPr>
        </p:nvSpPr>
        <p:spPr bwMode="auto"/>
        <p:txBody>
          <a:bodyPr/>
          <a:lstStyle/>
          <a:p>
            <a:pPr>
              <a:defRPr/>
            </a:pPr>
            <a:endParaRPr lang="en-US"/>
          </a:p>
        </p:txBody>
      </p:sp>
      <p:sp>
        <p:nvSpPr>
          <p:cNvPr id="451608080"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651528502"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p>
        </p:txBody>
      </p:sp>
      <p:sp>
        <p:nvSpPr>
          <p:cNvPr id="313445023"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476931622"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83488561" name="Date Placeholder 4"/>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315015467" name="Footer Placeholder 5"/>
          <p:cNvSpPr>
            <a:spLocks noGrp="1"/>
          </p:cNvSpPr>
          <p:nvPr>
            <p:ph type="ftr" sz="quarter" idx="11"/>
          </p:nvPr>
        </p:nvSpPr>
        <p:spPr bwMode="auto"/>
        <p:txBody>
          <a:bodyPr/>
          <a:lstStyle/>
          <a:p>
            <a:pPr>
              <a:defRPr/>
            </a:pPr>
            <a:endParaRPr lang="en-US"/>
          </a:p>
        </p:txBody>
      </p:sp>
      <p:sp>
        <p:nvSpPr>
          <p:cNvPr id="2081344467"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147234454" name="Title 1"/>
          <p:cNvSpPr>
            <a:spLocks noGrp="1"/>
          </p:cNvSpPr>
          <p:nvPr>
            <p:ph type="title"/>
          </p:nvPr>
        </p:nvSpPr>
        <p:spPr bwMode="auto"/>
        <p:txBody>
          <a:bodyPr/>
          <a:lstStyle/>
          <a:p>
            <a:pPr>
              <a:defRPr/>
            </a:pPr>
            <a:r>
              <a:rPr lang="en-US"/>
              <a:t>Click to edit Master title style</a:t>
            </a:r>
          </a:p>
        </p:txBody>
      </p:sp>
      <p:sp>
        <p:nvSpPr>
          <p:cNvPr id="1184949482"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560924236" name="Date Placeholder 3"/>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1167026815" name="Footer Placeholder 4"/>
          <p:cNvSpPr>
            <a:spLocks noGrp="1"/>
          </p:cNvSpPr>
          <p:nvPr>
            <p:ph type="ftr" sz="quarter" idx="11"/>
          </p:nvPr>
        </p:nvSpPr>
        <p:spPr bwMode="auto"/>
        <p:txBody>
          <a:bodyPr/>
          <a:lstStyle/>
          <a:p>
            <a:pPr>
              <a:defRPr/>
            </a:pPr>
            <a:endParaRPr lang="en-US"/>
          </a:p>
        </p:txBody>
      </p:sp>
      <p:sp>
        <p:nvSpPr>
          <p:cNvPr id="72732382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052211630"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p>
        </p:txBody>
      </p:sp>
      <p:sp>
        <p:nvSpPr>
          <p:cNvPr id="263053241"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992843799" name="Date Placeholder 3"/>
          <p:cNvSpPr>
            <a:spLocks noGrp="1"/>
          </p:cNvSpPr>
          <p:nvPr>
            <p:ph type="dt" sz="half" idx="10"/>
          </p:nvPr>
        </p:nvSpPr>
        <p:spPr bwMode="auto"/>
        <p:txBody>
          <a:bodyPr/>
          <a:lstStyle/>
          <a:p>
            <a:pPr>
              <a:defRPr/>
            </a:pPr>
            <a:fld id="{5BCAD085-E8A6-8845-BD4E-CB4CCA059FC4}" type="datetimeFigureOut">
              <a:rPr lang="en-US"/>
              <a:t>10/27/2026</a:t>
            </a:fld>
            <a:endParaRPr lang="en-US"/>
          </a:p>
        </p:txBody>
      </p:sp>
      <p:sp>
        <p:nvSpPr>
          <p:cNvPr id="216650885" name="Footer Placeholder 4"/>
          <p:cNvSpPr>
            <a:spLocks noGrp="1"/>
          </p:cNvSpPr>
          <p:nvPr>
            <p:ph type="ftr" sz="quarter" idx="11"/>
          </p:nvPr>
        </p:nvSpPr>
        <p:spPr bwMode="auto"/>
        <p:txBody>
          <a:bodyPr/>
          <a:lstStyle/>
          <a:p>
            <a:pPr>
              <a:defRPr/>
            </a:pPr>
            <a:endParaRPr lang="en-US"/>
          </a:p>
        </p:txBody>
      </p:sp>
      <p:sp>
        <p:nvSpPr>
          <p:cNvPr id="6553932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434983567"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p>
        </p:txBody>
      </p:sp>
      <p:sp>
        <p:nvSpPr>
          <p:cNvPr id="60444558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97947712"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10/27/2026</a:t>
            </a:fld>
            <a:endParaRPr lang="en-US"/>
          </a:p>
        </p:txBody>
      </p:sp>
      <p:sp>
        <p:nvSpPr>
          <p:cNvPr id="133550491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915001236"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11613162" name="Rectangle 1"/>
          <p:cNvSpPr/>
          <p:nvPr/>
        </p:nvSpPr>
        <p:spPr bwMode="auto">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23968001" name="Rectangle 2"/>
          <p:cNvSpPr/>
          <p:nvPr/>
        </p:nvSpPr>
        <p:spPr bwMode="auto">
          <a:xfrm>
            <a:off x="0" y="502920"/>
            <a:ext cx="12191695" cy="1905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1038864" name="Rectangle 3"/>
          <p:cNvSpPr/>
          <p:nvPr/>
        </p:nvSpPr>
        <p:spPr bwMode="auto">
          <a:xfrm>
            <a:off x="0" y="566928"/>
            <a:ext cx="12191695" cy="9525"/>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6533584" name="TextBox 4"/>
          <p:cNvSpPr txBox="1"/>
          <p:nvPr/>
        </p:nvSpPr>
        <p:spPr bwMode="auto">
          <a:xfrm>
            <a:off x="914400" y="868680"/>
            <a:ext cx="10360152" cy="365760"/>
          </a:xfrm>
          <a:prstGeom prst="rect">
            <a:avLst/>
          </a:prstGeom>
          <a:noFill/>
        </p:spPr>
        <p:txBody>
          <a:bodyPr wrap="square" anchor="t">
            <a:spAutoFit/>
          </a:bodyPr>
          <a:lstStyle/>
          <a:p>
            <a:pPr algn="ctr">
              <a:lnSpc>
                <a:spcPct val="100000"/>
              </a:lnSpc>
              <a:spcAft>
                <a:spcPts val="800"/>
              </a:spcAft>
              <a:defRPr/>
            </a:pPr>
            <a:r>
              <a:rPr sz="1400" b="1">
                <a:solidFill>
                  <a:srgbClr val="1B2A4A"/>
                </a:solidFill>
                <a:latin typeface="Georgia"/>
              </a:rPr>
              <a:t>S Y R I A N   P R I V A T E   U N I V E R S I T Y</a:t>
            </a:r>
            <a:endParaRPr/>
          </a:p>
        </p:txBody>
      </p:sp>
      <p:sp>
        <p:nvSpPr>
          <p:cNvPr id="1388018169" name="TextBox 5"/>
          <p:cNvSpPr txBox="1"/>
          <p:nvPr/>
        </p:nvSpPr>
        <p:spPr bwMode="auto">
          <a:xfrm>
            <a:off x="914400" y="1207008"/>
            <a:ext cx="10360152" cy="320040"/>
          </a:xfrm>
          <a:prstGeom prst="rect">
            <a:avLst/>
          </a:prstGeom>
          <a:noFill/>
        </p:spPr>
        <p:txBody>
          <a:bodyPr wrap="square" anchor="t">
            <a:spAutoFit/>
          </a:bodyPr>
          <a:lstStyle/>
          <a:p>
            <a:pPr algn="ctr">
              <a:lnSpc>
                <a:spcPct val="100000"/>
              </a:lnSpc>
              <a:spcAft>
                <a:spcPts val="800"/>
              </a:spcAft>
              <a:defRPr/>
            </a:pPr>
            <a:r>
              <a:rPr sz="1100" b="0">
                <a:solidFill>
                  <a:srgbClr val="5A5A5A"/>
                </a:solidFill>
                <a:latin typeface="Calibri"/>
              </a:rPr>
              <a:t>Faculty of Artificial Intelligence Engineering  ·  Department of Intelligent Information Security Systems Engineering</a:t>
            </a:r>
            <a:endParaRPr/>
          </a:p>
        </p:txBody>
      </p:sp>
      <p:sp>
        <p:nvSpPr>
          <p:cNvPr id="1626485876" name="Rectangle 6"/>
          <p:cNvSpPr/>
          <p:nvPr/>
        </p:nvSpPr>
        <p:spPr bwMode="auto">
          <a:xfrm>
            <a:off x="4480560" y="2240280"/>
            <a:ext cx="3227832" cy="152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34304482" name="TextBox 7"/>
          <p:cNvSpPr txBox="1"/>
          <p:nvPr/>
        </p:nvSpPr>
        <p:spPr bwMode="auto">
          <a:xfrm>
            <a:off x="914400" y="2468880"/>
            <a:ext cx="10360871" cy="970639"/>
          </a:xfrm>
          <a:prstGeom prst="rect">
            <a:avLst/>
          </a:prstGeom>
          <a:noFill/>
        </p:spPr>
        <p:txBody>
          <a:bodyPr wrap="square" anchor="t">
            <a:spAutoFit/>
          </a:bodyPr>
          <a:lstStyle/>
          <a:p>
            <a:pPr algn="ctr">
              <a:lnSpc>
                <a:spcPct val="100000"/>
              </a:lnSpc>
              <a:spcAft>
                <a:spcPts val="800"/>
              </a:spcAft>
              <a:defRPr/>
            </a:pPr>
            <a:r>
              <a:rPr sz="3600" b="1">
                <a:solidFill>
                  <a:srgbClr val="1B2A4A"/>
                </a:solidFill>
                <a:latin typeface="Georgia"/>
              </a:rPr>
              <a:t>Agentic AI Security Supervisor </a:t>
            </a:r>
            <a:endParaRPr/>
          </a:p>
          <a:p>
            <a:pPr algn="ctr">
              <a:lnSpc>
                <a:spcPct val="100000"/>
              </a:lnSpc>
              <a:spcAft>
                <a:spcPts val="800"/>
              </a:spcAft>
              <a:defRPr/>
            </a:pPr>
            <a:r>
              <a:rPr sz="1500" b="0">
                <a:solidFill>
                  <a:srgbClr val="7B1E3B"/>
                </a:solidFill>
                <a:latin typeface="Georgia"/>
              </a:rPr>
              <a:t>An Agentic LLM Framework for Autonomous Living-off-the-Land Attack Investigation and Response</a:t>
            </a:r>
            <a:endParaRPr/>
          </a:p>
        </p:txBody>
      </p:sp>
      <p:sp>
        <p:nvSpPr>
          <p:cNvPr id="1094488103" name="Rectangle 8"/>
          <p:cNvSpPr/>
          <p:nvPr/>
        </p:nvSpPr>
        <p:spPr bwMode="auto">
          <a:xfrm>
            <a:off x="4480560" y="4434840"/>
            <a:ext cx="3227832" cy="152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2537968" name="TextBox 9"/>
          <p:cNvSpPr txBox="1"/>
          <p:nvPr/>
        </p:nvSpPr>
        <p:spPr bwMode="auto">
          <a:xfrm>
            <a:off x="914400" y="4663440"/>
            <a:ext cx="10360511" cy="904599"/>
          </a:xfrm>
          <a:prstGeom prst="rect">
            <a:avLst/>
          </a:prstGeom>
          <a:noFill/>
        </p:spPr>
        <p:txBody>
          <a:bodyPr wrap="square" anchor="t">
            <a:spAutoFit/>
          </a:bodyPr>
          <a:lstStyle/>
          <a:p>
            <a:pPr algn="ctr">
              <a:lnSpc>
                <a:spcPct val="100000"/>
              </a:lnSpc>
              <a:spcAft>
                <a:spcPts val="800"/>
              </a:spcAft>
              <a:defRPr/>
            </a:pPr>
            <a:r>
              <a:rPr sz="1500" b="0">
                <a:solidFill>
                  <a:srgbClr val="333333"/>
                </a:solidFill>
                <a:latin typeface="Georgia"/>
              </a:rPr>
              <a:t>Omar Tanah   ·   Louay Almarri   ·   Hamza Beirouti</a:t>
            </a:r>
            <a:endParaRPr/>
          </a:p>
          <a:p>
            <a:pPr algn="ctr">
              <a:lnSpc>
                <a:spcPct val="100000"/>
              </a:lnSpc>
              <a:spcAft>
                <a:spcPts val="800"/>
              </a:spcAft>
              <a:defRPr/>
            </a:pPr>
            <a:r>
              <a:rPr sz="1300" b="0">
                <a:solidFill>
                  <a:srgbClr val="5A5A5A"/>
                </a:solidFill>
                <a:latin typeface="Georgia"/>
              </a:rPr>
              <a:t>Supervisors:  Dr. Waseem Juneidi   ·   Eng. Ahmad Shekha</a:t>
            </a:r>
            <a:endParaRPr/>
          </a:p>
          <a:p>
            <a:pPr algn="ctr">
              <a:lnSpc>
                <a:spcPct val="100000"/>
              </a:lnSpc>
              <a:spcAft>
                <a:spcPts val="800"/>
              </a:spcAft>
              <a:defRPr/>
            </a:pPr>
            <a:r>
              <a:rPr sz="1200" b="1">
                <a:solidFill>
                  <a:srgbClr val="7B1E3B"/>
                </a:solidFill>
                <a:latin typeface="Georgia"/>
              </a:rPr>
              <a:t>Graduation Project Seminar 1 —  2026</a:t>
            </a:r>
            <a:endParaRPr/>
          </a:p>
        </p:txBody>
      </p:sp>
      <p:sp>
        <p:nvSpPr>
          <p:cNvPr id="1643507809" name="Rectangle 10"/>
          <p:cNvSpPr/>
          <p:nvPr/>
        </p:nvSpPr>
        <p:spPr bwMode="auto">
          <a:xfrm>
            <a:off x="0" y="6355080"/>
            <a:ext cx="12191695" cy="1905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4702507" name="Rectangle 11"/>
          <p:cNvSpPr/>
          <p:nvPr/>
        </p:nvSpPr>
        <p:spPr bwMode="auto">
          <a:xfrm>
            <a:off x="0" y="6291072"/>
            <a:ext cx="12191695" cy="9525"/>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8765162" name="TextBox 1"/>
          <p:cNvSpPr txBox="1"/>
          <p:nvPr/>
        </p:nvSpPr>
        <p:spPr bwMode="auto">
          <a:xfrm>
            <a:off x="548640" y="292608"/>
            <a:ext cx="11064240" cy="731520"/>
          </a:xfrm>
          <a:prstGeom prst="rect">
            <a:avLst/>
          </a:prstGeom>
          <a:noFill/>
        </p:spPr>
        <p:txBody>
          <a:bodyPr wrap="square" anchor="t">
            <a:spAutoFit/>
          </a:bodyPr>
          <a:lstStyle/>
          <a:p>
            <a:pPr algn="l">
              <a:lnSpc>
                <a:spcPct val="100000"/>
              </a:lnSpc>
              <a:spcAft>
                <a:spcPts val="800"/>
              </a:spcAft>
              <a:defRPr/>
            </a:pPr>
            <a:r>
              <a:rPr sz="2800" b="1">
                <a:solidFill>
                  <a:srgbClr val="1B2A4A"/>
                </a:solidFill>
                <a:latin typeface="Georgia"/>
              </a:rPr>
              <a:t>Project Overview</a:t>
            </a:r>
            <a:endParaRPr/>
          </a:p>
        </p:txBody>
      </p:sp>
      <p:sp>
        <p:nvSpPr>
          <p:cNvPr id="750033835" name="Rectangle 2"/>
          <p:cNvSpPr/>
          <p:nvPr/>
        </p:nvSpPr>
        <p:spPr bwMode="auto">
          <a:xfrm>
            <a:off x="566928" y="932688"/>
            <a:ext cx="1463040" cy="31750"/>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3523647" name="Rectangle 3"/>
          <p:cNvSpPr/>
          <p:nvPr/>
        </p:nvSpPr>
        <p:spPr bwMode="auto">
          <a:xfrm>
            <a:off x="2103120" y="932688"/>
            <a:ext cx="9509760"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2073555" name="Rectangle 4"/>
          <p:cNvSpPr/>
          <p:nvPr/>
        </p:nvSpPr>
        <p:spPr bwMode="auto">
          <a:xfrm>
            <a:off x="548640" y="6473952"/>
            <a:ext cx="11091672"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2879275"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800"/>
              </a:spcAft>
              <a:defRPr/>
            </a:pPr>
            <a:r>
              <a:rPr sz="900" b="0">
                <a:solidFill>
                  <a:srgbClr val="5A5A5A"/>
                </a:solidFill>
                <a:latin typeface="Georgia"/>
              </a:rPr>
              <a:t>LOTL-ARIA — Graduation Project Seminar  ·  Syrian Private University, 2026</a:t>
            </a:r>
            <a:endParaRPr/>
          </a:p>
        </p:txBody>
      </p:sp>
      <p:sp>
        <p:nvSpPr>
          <p:cNvPr id="1652603954" name="TextBox 6"/>
          <p:cNvSpPr txBox="1"/>
          <p:nvPr/>
        </p:nvSpPr>
        <p:spPr bwMode="auto">
          <a:xfrm>
            <a:off x="10698480" y="6510528"/>
            <a:ext cx="914400" cy="274320"/>
          </a:xfrm>
          <a:prstGeom prst="rect">
            <a:avLst/>
          </a:prstGeom>
          <a:noFill/>
        </p:spPr>
        <p:txBody>
          <a:bodyPr wrap="square" anchor="t">
            <a:spAutoFit/>
          </a:bodyPr>
          <a:lstStyle/>
          <a:p>
            <a:pPr algn="r">
              <a:lnSpc>
                <a:spcPct val="100000"/>
              </a:lnSpc>
              <a:spcAft>
                <a:spcPts val="800"/>
              </a:spcAft>
              <a:defRPr/>
            </a:pPr>
            <a:r>
              <a:rPr sz="1000" b="1">
                <a:solidFill>
                  <a:srgbClr val="7B1E3B"/>
                </a:solidFill>
                <a:latin typeface="Georgia"/>
              </a:rPr>
              <a:t>2</a:t>
            </a:r>
            <a:endParaRPr/>
          </a:p>
        </p:txBody>
      </p:sp>
      <p:sp>
        <p:nvSpPr>
          <p:cNvPr id="1458476673" name="TextBox 7"/>
          <p:cNvSpPr txBox="1"/>
          <p:nvPr/>
        </p:nvSpPr>
        <p:spPr bwMode="auto">
          <a:xfrm>
            <a:off x="640080" y="1417319"/>
            <a:ext cx="10976399" cy="1072239"/>
          </a:xfrm>
          <a:prstGeom prst="rect">
            <a:avLst/>
          </a:prstGeom>
          <a:noFill/>
        </p:spPr>
        <p:txBody>
          <a:bodyPr wrap="square" anchor="t">
            <a:spAutoFit/>
          </a:bodyPr>
          <a:lstStyle/>
          <a:p>
            <a:pPr algn="l">
              <a:lnSpc>
                <a:spcPct val="100000"/>
              </a:lnSpc>
              <a:spcAft>
                <a:spcPts val="800"/>
              </a:spcAft>
              <a:defRPr/>
            </a:pPr>
            <a:r>
              <a:rPr sz="1700" b="0">
                <a:solidFill>
                  <a:srgbClr val="7B1E3B"/>
                </a:solidFill>
                <a:latin typeface="Georgia"/>
              </a:rPr>
              <a:t>•  </a:t>
            </a:r>
            <a:r>
              <a:rPr sz="1700" b="0">
                <a:solidFill>
                  <a:srgbClr val="333333"/>
                </a:solidFill>
                <a:latin typeface="Georgia"/>
              </a:rPr>
              <a:t>Agentic LLM framework investigating LOTL attacks</a:t>
            </a:r>
            <a:endParaRPr/>
          </a:p>
          <a:p>
            <a:pPr algn="l">
              <a:lnSpc>
                <a:spcPct val="100000"/>
              </a:lnSpc>
              <a:spcAft>
                <a:spcPts val="800"/>
              </a:spcAft>
              <a:defRPr/>
            </a:pPr>
            <a:r>
              <a:rPr sz="1700" b="0">
                <a:solidFill>
                  <a:srgbClr val="7B1E3B"/>
                </a:solidFill>
                <a:latin typeface="Georgia"/>
              </a:rPr>
              <a:t>•  </a:t>
            </a:r>
            <a:r>
              <a:rPr sz="1700" b="0">
                <a:solidFill>
                  <a:srgbClr val="333333"/>
                </a:solidFill>
                <a:latin typeface="Georgia"/>
              </a:rPr>
              <a:t>Replaces passive ML detectors with autonomous LLM agents</a:t>
            </a:r>
            <a:endParaRPr/>
          </a:p>
          <a:p>
            <a:pPr algn="l">
              <a:lnSpc>
                <a:spcPct val="100000"/>
              </a:lnSpc>
              <a:spcAft>
                <a:spcPts val="800"/>
              </a:spcAft>
              <a:defRPr/>
            </a:pPr>
            <a:r>
              <a:rPr sz="1700" b="0">
                <a:solidFill>
                  <a:srgbClr val="7B1E3B"/>
                </a:solidFill>
                <a:latin typeface="Georgia"/>
              </a:rPr>
              <a:t>•  </a:t>
            </a:r>
            <a:r>
              <a:rPr sz="1700" b="0">
                <a:solidFill>
                  <a:srgbClr val="333333"/>
                </a:solidFill>
                <a:latin typeface="Georgia"/>
              </a:rPr>
              <a:t>Wazuh SIEM for real-time log ingestion and response</a:t>
            </a:r>
            <a:endParaRPr/>
          </a:p>
        </p:txBody>
      </p:sp>
      <p:sp>
        <p:nvSpPr>
          <p:cNvPr id="1468973489" name="Rectangle 8"/>
          <p:cNvSpPr/>
          <p:nvPr/>
        </p:nvSpPr>
        <p:spPr bwMode="auto">
          <a:xfrm>
            <a:off x="502920" y="3246120"/>
            <a:ext cx="3200400" cy="1463040"/>
          </a:xfrm>
          <a:prstGeom prst="rect">
            <a:avLst/>
          </a:prstGeom>
          <a:solidFill>
            <a:srgbClr val="E8EBF1"/>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pPr>
            <a:r>
              <a:rPr sz="1700" b="1">
                <a:solidFill>
                  <a:srgbClr val="1B2A4A"/>
                </a:solidFill>
                <a:latin typeface="Georgia"/>
              </a:rPr>
              <a:t>Rule-Based Detection</a:t>
            </a:r>
            <a:endParaRPr/>
          </a:p>
          <a:p>
            <a:pPr algn="ctr">
              <a:defRPr/>
            </a:pPr>
            <a:r>
              <a:rPr sz="1200">
                <a:solidFill>
                  <a:srgbClr val="5A5A5A"/>
                </a:solidFill>
                <a:latin typeface="Calibri"/>
              </a:rPr>
              <a:t>Passive classification</a:t>
            </a:r>
            <a:endParaRPr/>
          </a:p>
        </p:txBody>
      </p:sp>
      <p:sp>
        <p:nvSpPr>
          <p:cNvPr id="1915028128" name="Right Arrow 9"/>
          <p:cNvSpPr/>
          <p:nvPr/>
        </p:nvSpPr>
        <p:spPr bwMode="auto">
          <a:xfrm>
            <a:off x="3749040" y="3813048"/>
            <a:ext cx="777240" cy="329184"/>
          </a:xfrm>
          <a:prstGeom prst="rightArrow">
            <a:avLst>
              <a:gd name="adj1" fmla="val 50000"/>
              <a:gd name="adj2" fmla="val 50000"/>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9430400" name="Rectangle 10"/>
          <p:cNvSpPr/>
          <p:nvPr/>
        </p:nvSpPr>
        <p:spPr bwMode="auto">
          <a:xfrm>
            <a:off x="4572000" y="3246120"/>
            <a:ext cx="3200400" cy="1463040"/>
          </a:xfrm>
          <a:prstGeom prst="rect">
            <a:avLst/>
          </a:prstGeom>
          <a:solidFill>
            <a:srgbClr val="E8EBF1"/>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pPr>
            <a:r>
              <a:rPr sz="1700" b="1">
                <a:solidFill>
                  <a:srgbClr val="1B2A4A"/>
                </a:solidFill>
                <a:latin typeface="Georgia"/>
              </a:rPr>
              <a:t>ML Detector</a:t>
            </a:r>
            <a:endParaRPr/>
          </a:p>
          <a:p>
            <a:pPr algn="ctr">
              <a:defRPr/>
            </a:pPr>
            <a:r>
              <a:rPr sz="1200">
                <a:solidFill>
                  <a:srgbClr val="5A5A5A"/>
                </a:solidFill>
                <a:latin typeface="Calibri"/>
              </a:rPr>
              <a:t>Passive classification</a:t>
            </a:r>
            <a:endParaRPr/>
          </a:p>
        </p:txBody>
      </p:sp>
      <p:sp>
        <p:nvSpPr>
          <p:cNvPr id="551923100" name="Right Arrow 11"/>
          <p:cNvSpPr/>
          <p:nvPr/>
        </p:nvSpPr>
        <p:spPr bwMode="auto">
          <a:xfrm>
            <a:off x="7818120" y="3813048"/>
            <a:ext cx="777240" cy="329184"/>
          </a:xfrm>
          <a:prstGeom prst="rightArrow">
            <a:avLst>
              <a:gd name="adj1" fmla="val 50000"/>
              <a:gd name="adj2" fmla="val 50000"/>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77214856" name="Rectangle 12"/>
          <p:cNvSpPr/>
          <p:nvPr/>
        </p:nvSpPr>
        <p:spPr bwMode="auto">
          <a:xfrm>
            <a:off x="8641080" y="3246120"/>
            <a:ext cx="3200400" cy="1463040"/>
          </a:xfrm>
          <a:prstGeom prst="rect">
            <a:avLst/>
          </a:prstGeom>
          <a:solidFill>
            <a:srgbClr val="1B2A4A"/>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pPr>
            <a:r>
              <a:rPr sz="1700" b="1">
                <a:solidFill>
                  <a:srgbClr val="FFFFFF"/>
                </a:solidFill>
                <a:latin typeface="Georgia"/>
              </a:rPr>
              <a:t>LOTL-ARIA Agent</a:t>
            </a:r>
            <a:endParaRPr/>
          </a:p>
          <a:p>
            <a:pPr algn="ctr">
              <a:defRPr/>
            </a:pPr>
            <a:r>
              <a:rPr sz="1200">
                <a:solidFill>
                  <a:srgbClr val="FAF7F0"/>
                </a:solidFill>
                <a:latin typeface="Calibri"/>
              </a:rPr>
              <a:t>Investigates and correlates</a:t>
            </a:r>
            <a:endParaRPr/>
          </a:p>
        </p:txBody>
      </p:sp>
      <p:sp>
        <p:nvSpPr>
          <p:cNvPr id="733457549" name="TextBox 13"/>
          <p:cNvSpPr txBox="1"/>
          <p:nvPr/>
        </p:nvSpPr>
        <p:spPr bwMode="auto">
          <a:xfrm>
            <a:off x="640080" y="5166360"/>
            <a:ext cx="10972800" cy="914400"/>
          </a:xfrm>
          <a:prstGeom prst="rect">
            <a:avLst/>
          </a:prstGeom>
          <a:noFill/>
        </p:spPr>
        <p:txBody>
          <a:bodyPr wrap="square" anchor="t">
            <a:spAutoFit/>
          </a:bodyPr>
          <a:lstStyle/>
          <a:p>
            <a:pPr algn="ctr">
              <a:lnSpc>
                <a:spcPct val="100000"/>
              </a:lnSpc>
              <a:spcAft>
                <a:spcPts val="800"/>
              </a:spcAft>
              <a:defRPr/>
            </a:pPr>
            <a:r>
              <a:rPr sz="1300" b="0">
                <a:solidFill>
                  <a:srgbClr val="5A5A5A"/>
                </a:solidFill>
                <a:latin typeface="Calibri"/>
              </a:rPr>
              <a:t>Existing pipelines stop at detection; LOTL-ARIA adds a transparent investigation and graded-response layer on top.</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53837653" name="TextBox 1"/>
          <p:cNvSpPr txBox="1"/>
          <p:nvPr/>
        </p:nvSpPr>
        <p:spPr bwMode="auto">
          <a:xfrm>
            <a:off x="548640" y="292608"/>
            <a:ext cx="11064240" cy="731520"/>
          </a:xfrm>
          <a:prstGeom prst="rect">
            <a:avLst/>
          </a:prstGeom>
          <a:noFill/>
        </p:spPr>
        <p:txBody>
          <a:bodyPr wrap="square" anchor="t">
            <a:spAutoFit/>
          </a:bodyPr>
          <a:lstStyle/>
          <a:p>
            <a:pPr algn="l">
              <a:lnSpc>
                <a:spcPct val="100000"/>
              </a:lnSpc>
              <a:spcAft>
                <a:spcPts val="800"/>
              </a:spcAft>
              <a:defRPr/>
            </a:pPr>
            <a:r>
              <a:rPr sz="2800" b="1">
                <a:solidFill>
                  <a:srgbClr val="1B2A4A"/>
                </a:solidFill>
                <a:latin typeface="Georgia"/>
              </a:rPr>
              <a:t>The 3 Core Research Gaps</a:t>
            </a:r>
            <a:endParaRPr/>
          </a:p>
        </p:txBody>
      </p:sp>
      <p:sp>
        <p:nvSpPr>
          <p:cNvPr id="113423354" name="Rectangle 2"/>
          <p:cNvSpPr/>
          <p:nvPr/>
        </p:nvSpPr>
        <p:spPr bwMode="auto">
          <a:xfrm>
            <a:off x="566928" y="932688"/>
            <a:ext cx="1463040" cy="31750"/>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25581150" name="Rectangle 3"/>
          <p:cNvSpPr/>
          <p:nvPr/>
        </p:nvSpPr>
        <p:spPr bwMode="auto">
          <a:xfrm>
            <a:off x="2103120" y="932688"/>
            <a:ext cx="9509760"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3182214" name="Rectangle 4"/>
          <p:cNvSpPr/>
          <p:nvPr/>
        </p:nvSpPr>
        <p:spPr bwMode="auto">
          <a:xfrm>
            <a:off x="548640" y="6473952"/>
            <a:ext cx="11091672"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6513977"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800"/>
              </a:spcAft>
              <a:defRPr/>
            </a:pPr>
            <a:r>
              <a:rPr sz="900" b="0">
                <a:solidFill>
                  <a:srgbClr val="5A5A5A"/>
                </a:solidFill>
                <a:latin typeface="Georgia"/>
              </a:rPr>
              <a:t>LOTL-ARIA — Graduation Project Seminar  ·  Syrian Private University, 2026</a:t>
            </a:r>
            <a:endParaRPr/>
          </a:p>
        </p:txBody>
      </p:sp>
      <p:sp>
        <p:nvSpPr>
          <p:cNvPr id="647350369" name="TextBox 6"/>
          <p:cNvSpPr txBox="1"/>
          <p:nvPr/>
        </p:nvSpPr>
        <p:spPr bwMode="auto">
          <a:xfrm>
            <a:off x="10698480" y="6510528"/>
            <a:ext cx="914400" cy="274320"/>
          </a:xfrm>
          <a:prstGeom prst="rect">
            <a:avLst/>
          </a:prstGeom>
          <a:noFill/>
        </p:spPr>
        <p:txBody>
          <a:bodyPr wrap="square" anchor="t">
            <a:spAutoFit/>
          </a:bodyPr>
          <a:lstStyle/>
          <a:p>
            <a:pPr algn="r">
              <a:lnSpc>
                <a:spcPct val="100000"/>
              </a:lnSpc>
              <a:spcAft>
                <a:spcPts val="800"/>
              </a:spcAft>
              <a:defRPr/>
            </a:pPr>
            <a:r>
              <a:rPr sz="1000" b="1">
                <a:solidFill>
                  <a:srgbClr val="7B1E3B"/>
                </a:solidFill>
                <a:latin typeface="Georgia"/>
              </a:rPr>
              <a:t>3</a:t>
            </a:r>
            <a:endParaRPr/>
          </a:p>
        </p:txBody>
      </p:sp>
      <p:sp>
        <p:nvSpPr>
          <p:cNvPr id="1915448141" name="Rectangle 7"/>
          <p:cNvSpPr/>
          <p:nvPr/>
        </p:nvSpPr>
        <p:spPr bwMode="auto">
          <a:xfrm>
            <a:off x="822960" y="1463040"/>
            <a:ext cx="10515600" cy="1280160"/>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3150917" name="TextBox 8"/>
          <p:cNvSpPr txBox="1"/>
          <p:nvPr/>
        </p:nvSpPr>
        <p:spPr bwMode="auto">
          <a:xfrm>
            <a:off x="1097280" y="1463040"/>
            <a:ext cx="1005840" cy="1280160"/>
          </a:xfrm>
          <a:prstGeom prst="rect">
            <a:avLst/>
          </a:prstGeom>
          <a:noFill/>
        </p:spPr>
        <p:txBody>
          <a:bodyPr wrap="square" anchor="ctr">
            <a:spAutoFit/>
          </a:bodyPr>
          <a:lstStyle/>
          <a:p>
            <a:pPr algn="ctr">
              <a:lnSpc>
                <a:spcPct val="100000"/>
              </a:lnSpc>
              <a:spcAft>
                <a:spcPts val="800"/>
              </a:spcAft>
              <a:defRPr/>
            </a:pPr>
            <a:r>
              <a:rPr sz="2400" b="1">
                <a:solidFill>
                  <a:srgbClr val="7B1E3B"/>
                </a:solidFill>
                <a:latin typeface="Georgia"/>
              </a:rPr>
              <a:t>I.</a:t>
            </a:r>
            <a:endParaRPr/>
          </a:p>
        </p:txBody>
      </p:sp>
      <p:sp>
        <p:nvSpPr>
          <p:cNvPr id="1770829706" name="Rectangle 9"/>
          <p:cNvSpPr/>
          <p:nvPr/>
        </p:nvSpPr>
        <p:spPr bwMode="auto">
          <a:xfrm>
            <a:off x="2240280" y="1691640"/>
            <a:ext cx="12700" cy="8229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164611" name="TextBox 10"/>
          <p:cNvSpPr txBox="1"/>
          <p:nvPr/>
        </p:nvSpPr>
        <p:spPr bwMode="auto">
          <a:xfrm>
            <a:off x="2560320" y="1600200"/>
            <a:ext cx="8503920" cy="1005840"/>
          </a:xfrm>
          <a:prstGeom prst="rect">
            <a:avLst/>
          </a:prstGeom>
          <a:noFill/>
        </p:spPr>
        <p:txBody>
          <a:bodyPr wrap="square" anchor="ctr">
            <a:spAutoFit/>
          </a:bodyPr>
          <a:lstStyle/>
          <a:p>
            <a:pPr algn="l">
              <a:lnSpc>
                <a:spcPct val="100000"/>
              </a:lnSpc>
              <a:spcAft>
                <a:spcPts val="800"/>
              </a:spcAft>
              <a:defRPr/>
            </a:pPr>
            <a:r>
              <a:rPr sz="2100" b="1">
                <a:solidFill>
                  <a:srgbClr val="1B2A4A"/>
                </a:solidFill>
                <a:latin typeface="Georgia"/>
              </a:rPr>
              <a:t>Lack of Contextual Understanding</a:t>
            </a:r>
            <a:endParaRPr/>
          </a:p>
          <a:p>
            <a:pPr algn="l">
              <a:lnSpc>
                <a:spcPct val="100000"/>
              </a:lnSpc>
              <a:spcAft>
                <a:spcPts val="800"/>
              </a:spcAft>
              <a:defRPr/>
            </a:pPr>
            <a:r>
              <a:rPr sz="1500" b="0">
                <a:solidFill>
                  <a:srgbClr val="5A5A5A"/>
                </a:solidFill>
                <a:latin typeface="Calibri"/>
              </a:rPr>
              <a:t>ML evaluates commands in isolation</a:t>
            </a:r>
            <a:endParaRPr/>
          </a:p>
        </p:txBody>
      </p:sp>
      <p:sp>
        <p:nvSpPr>
          <p:cNvPr id="189649723" name="Rectangle 11"/>
          <p:cNvSpPr/>
          <p:nvPr/>
        </p:nvSpPr>
        <p:spPr bwMode="auto">
          <a:xfrm>
            <a:off x="822960" y="3017519"/>
            <a:ext cx="10515600" cy="1280160"/>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208818" name="TextBox 12"/>
          <p:cNvSpPr txBox="1"/>
          <p:nvPr/>
        </p:nvSpPr>
        <p:spPr bwMode="auto">
          <a:xfrm>
            <a:off x="1097280" y="3017519"/>
            <a:ext cx="1005840" cy="1280160"/>
          </a:xfrm>
          <a:prstGeom prst="rect">
            <a:avLst/>
          </a:prstGeom>
          <a:noFill/>
        </p:spPr>
        <p:txBody>
          <a:bodyPr wrap="square" anchor="ctr">
            <a:spAutoFit/>
          </a:bodyPr>
          <a:lstStyle/>
          <a:p>
            <a:pPr algn="ctr">
              <a:lnSpc>
                <a:spcPct val="100000"/>
              </a:lnSpc>
              <a:spcAft>
                <a:spcPts val="800"/>
              </a:spcAft>
              <a:defRPr/>
            </a:pPr>
            <a:r>
              <a:rPr sz="2400" b="1">
                <a:solidFill>
                  <a:srgbClr val="7B1E3B"/>
                </a:solidFill>
                <a:latin typeface="Georgia"/>
              </a:rPr>
              <a:t>II.</a:t>
            </a:r>
            <a:endParaRPr/>
          </a:p>
        </p:txBody>
      </p:sp>
      <p:sp>
        <p:nvSpPr>
          <p:cNvPr id="1577269293" name="Rectangle 13"/>
          <p:cNvSpPr/>
          <p:nvPr/>
        </p:nvSpPr>
        <p:spPr bwMode="auto">
          <a:xfrm>
            <a:off x="2240280" y="3246120"/>
            <a:ext cx="12700" cy="8229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3074370" name="TextBox 14"/>
          <p:cNvSpPr txBox="1"/>
          <p:nvPr/>
        </p:nvSpPr>
        <p:spPr bwMode="auto">
          <a:xfrm>
            <a:off x="2560320" y="3154680"/>
            <a:ext cx="8503920" cy="1005840"/>
          </a:xfrm>
          <a:prstGeom prst="rect">
            <a:avLst/>
          </a:prstGeom>
          <a:noFill/>
        </p:spPr>
        <p:txBody>
          <a:bodyPr wrap="square" anchor="ctr">
            <a:spAutoFit/>
          </a:bodyPr>
          <a:lstStyle/>
          <a:p>
            <a:pPr algn="l">
              <a:lnSpc>
                <a:spcPct val="100000"/>
              </a:lnSpc>
              <a:spcAft>
                <a:spcPts val="800"/>
              </a:spcAft>
              <a:defRPr/>
            </a:pPr>
            <a:r>
              <a:rPr sz="2100" b="1">
                <a:solidFill>
                  <a:srgbClr val="1B2A4A"/>
                </a:solidFill>
                <a:latin typeface="Georgia"/>
              </a:rPr>
              <a:t>Absence of Explainability</a:t>
            </a:r>
            <a:endParaRPr/>
          </a:p>
          <a:p>
            <a:pPr algn="l">
              <a:lnSpc>
                <a:spcPct val="100000"/>
              </a:lnSpc>
              <a:spcAft>
                <a:spcPts val="800"/>
              </a:spcAft>
              <a:defRPr/>
            </a:pPr>
            <a:r>
              <a:rPr sz="1500" b="0">
                <a:solidFill>
                  <a:srgbClr val="5A5A5A"/>
                </a:solidFill>
                <a:latin typeface="Calibri"/>
              </a:rPr>
              <a:t>Black-box models fail to justify decisions</a:t>
            </a:r>
            <a:endParaRPr/>
          </a:p>
        </p:txBody>
      </p:sp>
      <p:sp>
        <p:nvSpPr>
          <p:cNvPr id="227047863" name="Rectangle 15"/>
          <p:cNvSpPr/>
          <p:nvPr/>
        </p:nvSpPr>
        <p:spPr bwMode="auto">
          <a:xfrm>
            <a:off x="822960" y="4572000"/>
            <a:ext cx="10515600" cy="1280160"/>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2801451" name="TextBox 16"/>
          <p:cNvSpPr txBox="1"/>
          <p:nvPr/>
        </p:nvSpPr>
        <p:spPr bwMode="auto">
          <a:xfrm>
            <a:off x="1097280" y="4572000"/>
            <a:ext cx="1005840" cy="1280160"/>
          </a:xfrm>
          <a:prstGeom prst="rect">
            <a:avLst/>
          </a:prstGeom>
          <a:noFill/>
        </p:spPr>
        <p:txBody>
          <a:bodyPr wrap="square" anchor="ctr">
            <a:spAutoFit/>
          </a:bodyPr>
          <a:lstStyle/>
          <a:p>
            <a:pPr algn="ctr">
              <a:lnSpc>
                <a:spcPct val="100000"/>
              </a:lnSpc>
              <a:spcAft>
                <a:spcPts val="800"/>
              </a:spcAft>
              <a:defRPr/>
            </a:pPr>
            <a:r>
              <a:rPr sz="2400" b="1">
                <a:solidFill>
                  <a:srgbClr val="7B1E3B"/>
                </a:solidFill>
                <a:latin typeface="Georgia"/>
              </a:rPr>
              <a:t>III.</a:t>
            </a:r>
            <a:endParaRPr/>
          </a:p>
        </p:txBody>
      </p:sp>
      <p:sp>
        <p:nvSpPr>
          <p:cNvPr id="1033681375" name="Rectangle 17"/>
          <p:cNvSpPr/>
          <p:nvPr/>
        </p:nvSpPr>
        <p:spPr bwMode="auto">
          <a:xfrm>
            <a:off x="2240280" y="4800600"/>
            <a:ext cx="12700" cy="8229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40670628" name="TextBox 18"/>
          <p:cNvSpPr txBox="1"/>
          <p:nvPr/>
        </p:nvSpPr>
        <p:spPr bwMode="auto">
          <a:xfrm>
            <a:off x="2560320" y="4709160"/>
            <a:ext cx="8503920" cy="1005840"/>
          </a:xfrm>
          <a:prstGeom prst="rect">
            <a:avLst/>
          </a:prstGeom>
          <a:noFill/>
        </p:spPr>
        <p:txBody>
          <a:bodyPr wrap="square" anchor="ctr">
            <a:spAutoFit/>
          </a:bodyPr>
          <a:lstStyle/>
          <a:p>
            <a:pPr algn="l">
              <a:lnSpc>
                <a:spcPct val="100000"/>
              </a:lnSpc>
              <a:spcAft>
                <a:spcPts val="800"/>
              </a:spcAft>
              <a:defRPr/>
            </a:pPr>
            <a:r>
              <a:rPr sz="2100" b="1">
                <a:solidFill>
                  <a:srgbClr val="1B2A4A"/>
                </a:solidFill>
                <a:latin typeface="Georgia"/>
              </a:rPr>
              <a:t>No Response Capability</a:t>
            </a:r>
            <a:endParaRPr/>
          </a:p>
          <a:p>
            <a:pPr algn="l">
              <a:lnSpc>
                <a:spcPct val="100000"/>
              </a:lnSpc>
              <a:spcAft>
                <a:spcPts val="800"/>
              </a:spcAft>
              <a:defRPr/>
            </a:pPr>
            <a:r>
              <a:rPr sz="1500" b="0">
                <a:solidFill>
                  <a:srgbClr val="5A5A5A"/>
                </a:solidFill>
                <a:latin typeface="Calibri"/>
              </a:rPr>
              <a:t>Systems detect but cannot autonomously act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51777422" name="TextBox 1"/>
          <p:cNvSpPr txBox="1"/>
          <p:nvPr/>
        </p:nvSpPr>
        <p:spPr bwMode="auto">
          <a:xfrm>
            <a:off x="548640" y="292608"/>
            <a:ext cx="11064240" cy="731520"/>
          </a:xfrm>
          <a:prstGeom prst="rect">
            <a:avLst/>
          </a:prstGeom>
          <a:noFill/>
        </p:spPr>
        <p:txBody>
          <a:bodyPr wrap="square" anchor="t">
            <a:spAutoFit/>
          </a:bodyPr>
          <a:lstStyle/>
          <a:p>
            <a:pPr algn="l">
              <a:lnSpc>
                <a:spcPct val="100000"/>
              </a:lnSpc>
              <a:spcAft>
                <a:spcPts val="800"/>
              </a:spcAft>
              <a:defRPr/>
            </a:pPr>
            <a:r>
              <a:rPr sz="2800" b="1">
                <a:solidFill>
                  <a:srgbClr val="1B2A4A"/>
                </a:solidFill>
                <a:latin typeface="Georgia"/>
              </a:rPr>
              <a:t>Previous Work — Part 1: The Foundations</a:t>
            </a:r>
            <a:endParaRPr/>
          </a:p>
        </p:txBody>
      </p:sp>
      <p:sp>
        <p:nvSpPr>
          <p:cNvPr id="1316726431" name="Rectangle 2"/>
          <p:cNvSpPr/>
          <p:nvPr/>
        </p:nvSpPr>
        <p:spPr bwMode="auto">
          <a:xfrm>
            <a:off x="566928" y="932688"/>
            <a:ext cx="1463040" cy="31750"/>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9701167" name="Rectangle 3"/>
          <p:cNvSpPr/>
          <p:nvPr/>
        </p:nvSpPr>
        <p:spPr bwMode="auto">
          <a:xfrm>
            <a:off x="2103120" y="932688"/>
            <a:ext cx="9509760"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5944774" name="Rectangle 4"/>
          <p:cNvSpPr/>
          <p:nvPr/>
        </p:nvSpPr>
        <p:spPr bwMode="auto">
          <a:xfrm>
            <a:off x="548640" y="6473952"/>
            <a:ext cx="11091672"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9817858"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800"/>
              </a:spcAft>
              <a:defRPr/>
            </a:pPr>
            <a:r>
              <a:rPr sz="900" b="0">
                <a:solidFill>
                  <a:srgbClr val="5A5A5A"/>
                </a:solidFill>
                <a:latin typeface="Georgia"/>
              </a:rPr>
              <a:t>LOTL-ARIA — Graduation Project Seminar  ·  Syrian Private University, 2026</a:t>
            </a:r>
            <a:endParaRPr/>
          </a:p>
        </p:txBody>
      </p:sp>
      <p:sp>
        <p:nvSpPr>
          <p:cNvPr id="443299667" name="TextBox 6"/>
          <p:cNvSpPr txBox="1"/>
          <p:nvPr/>
        </p:nvSpPr>
        <p:spPr bwMode="auto">
          <a:xfrm>
            <a:off x="10698480" y="6510528"/>
            <a:ext cx="914400" cy="274320"/>
          </a:xfrm>
          <a:prstGeom prst="rect">
            <a:avLst/>
          </a:prstGeom>
          <a:noFill/>
        </p:spPr>
        <p:txBody>
          <a:bodyPr wrap="square" anchor="t">
            <a:spAutoFit/>
          </a:bodyPr>
          <a:lstStyle/>
          <a:p>
            <a:pPr algn="r">
              <a:lnSpc>
                <a:spcPct val="100000"/>
              </a:lnSpc>
              <a:spcAft>
                <a:spcPts val="800"/>
              </a:spcAft>
              <a:defRPr/>
            </a:pPr>
            <a:r>
              <a:rPr sz="1000" b="1">
                <a:solidFill>
                  <a:srgbClr val="7B1E3B"/>
                </a:solidFill>
                <a:latin typeface="Georgia"/>
              </a:rPr>
              <a:t>4</a:t>
            </a:r>
            <a:endParaRPr/>
          </a:p>
        </p:txBody>
      </p:sp>
      <p:graphicFrame>
        <p:nvGraphicFramePr>
          <p:cNvPr id="2108472561" name="Table 7"/>
          <p:cNvGraphicFramePr>
            <a:graphicFrameLocks noGrp="1"/>
          </p:cNvGraphicFramePr>
          <p:nvPr>
            <p:extLst>
              <p:ext uri="{D42A27DB-BD31-4B8C-83A1-F6EECF244321}">
                <p14:modId xmlns:p14="http://schemas.microsoft.com/office/powerpoint/2010/main" val="2521754041"/>
              </p:ext>
            </p:extLst>
          </p:nvPr>
        </p:nvGraphicFramePr>
        <p:xfrm>
          <a:off x="502920" y="1371600"/>
          <a:ext cx="11201399" cy="4898572"/>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160519">
                  <a:extLst>
                    <a:ext uri="{9D8B030D-6E8A-4147-A177-3AD203B41FA5}">
                      <a16:colId xmlns:a16="http://schemas.microsoft.com/office/drawing/2014/main" val="20002"/>
                    </a:ext>
                  </a:extLst>
                </a:gridCol>
              </a:tblGrid>
              <a:tr h="679268">
                <a:tc>
                  <a:txBody>
                    <a:bodyPr/>
                    <a:lstStyle/>
                    <a:p>
                      <a:pPr>
                        <a:defRPr/>
                      </a:pPr>
                      <a:r>
                        <a:rPr sz="1400" b="1">
                          <a:solidFill>
                            <a:srgbClr val="FFFFFF"/>
                          </a:solidFill>
                          <a:latin typeface="Georgia"/>
                        </a:rPr>
                        <a:t>Paper &amp; Year</a:t>
                      </a:r>
                      <a:endParaRPr/>
                    </a:p>
                  </a:txBody>
                  <a:tcPr>
                    <a:solidFill>
                      <a:srgbClr val="1B2A4A"/>
                    </a:solidFill>
                  </a:tcPr>
                </a:tc>
                <a:tc>
                  <a:txBody>
                    <a:bodyPr/>
                    <a:lstStyle/>
                    <a:p>
                      <a:pPr>
                        <a:defRPr/>
                      </a:pPr>
                      <a:r>
                        <a:rPr sz="1400" b="1" dirty="0">
                          <a:solidFill>
                            <a:srgbClr val="FFFFFF"/>
                          </a:solidFill>
                          <a:latin typeface="Georgia"/>
                        </a:rPr>
                        <a:t>Core Contribution</a:t>
                      </a:r>
                      <a:endParaRPr dirty="0"/>
                    </a:p>
                  </a:txBody>
                  <a:tcPr>
                    <a:solidFill>
                      <a:srgbClr val="1B2A4A"/>
                    </a:solidFill>
                  </a:tcPr>
                </a:tc>
                <a:tc>
                  <a:txBody>
                    <a:bodyPr/>
                    <a:lstStyle/>
                    <a:p>
                      <a:pPr>
                        <a:defRPr/>
                      </a:pPr>
                      <a:r>
                        <a:rPr sz="1400" b="1">
                          <a:solidFill>
                            <a:srgbClr val="FFFFFF"/>
                          </a:solidFill>
                          <a:latin typeface="Georgia"/>
                        </a:rPr>
                        <a:t>Relationship to Project</a:t>
                      </a:r>
                      <a:endParaRPr/>
                    </a:p>
                  </a:txBody>
                  <a:tcPr>
                    <a:solidFill>
                      <a:srgbClr val="1B2A4A"/>
                    </a:solidFill>
                  </a:tcPr>
                </a:tc>
                <a:extLst>
                  <a:ext uri="{0D108BD9-81ED-4DB2-BD59-A6C34878D82A}">
                    <a16:rowId xmlns:a16="http://schemas.microsoft.com/office/drawing/2014/main" val="10000"/>
                  </a:ext>
                </a:extLst>
              </a:tr>
              <a:tr h="679268">
                <a:tc>
                  <a:txBody>
                    <a:bodyPr/>
                    <a:lstStyle/>
                    <a:p>
                      <a:pPr>
                        <a:defRPr/>
                      </a:pPr>
                      <a:r>
                        <a:rPr sz="1200" b="1" dirty="0" err="1">
                          <a:solidFill>
                            <a:srgbClr val="333333"/>
                          </a:solidFill>
                          <a:latin typeface="Calibri"/>
                        </a:rPr>
                        <a:t>LOTLDetector</a:t>
                      </a:r>
                      <a:r>
                        <a:rPr sz="1200" b="1" dirty="0">
                          <a:solidFill>
                            <a:srgbClr val="333333"/>
                          </a:solidFill>
                          <a:latin typeface="Calibri"/>
                        </a:rPr>
                        <a:t> (2026) [1]</a:t>
                      </a:r>
                      <a:endParaRPr dirty="0"/>
                    </a:p>
                  </a:txBody>
                  <a:tcPr>
                    <a:solidFill>
                      <a:srgbClr val="FAF7F0"/>
                    </a:solidFill>
                  </a:tcPr>
                </a:tc>
                <a:tc>
                  <a:txBody>
                    <a:bodyPr/>
                    <a:lstStyle/>
                    <a:p>
                      <a:pPr>
                        <a:defRPr/>
                      </a:pPr>
                      <a:r>
                        <a:rPr lang="en-US" sz="1200" b="0" dirty="0" smtClean="0">
                          <a:solidFill>
                            <a:srgbClr val="333333"/>
                          </a:solidFill>
                          <a:latin typeface="Calibri"/>
                          <a:ea typeface="+mn-ea"/>
                          <a:cs typeface="+mn-cs"/>
                        </a:rPr>
                        <a:t>Achieved high in-distribution accuracy (F1: 0.9727) using hybrid ML, but suffers from context-blindness, lack of interpretability, </a:t>
                      </a:r>
                      <a:r>
                        <a:rPr lang="en-US" sz="1200" b="0" dirty="0" smtClean="0">
                          <a:solidFill>
                            <a:srgbClr val="333333"/>
                          </a:solidFill>
                          <a:latin typeface="+mn-lt"/>
                          <a:ea typeface="+mn-ea"/>
                          <a:cs typeface="+mn-cs"/>
                        </a:rPr>
                        <a:t>and </a:t>
                      </a:r>
                      <a:r>
                        <a:rPr lang="en-US" sz="1200" b="0" dirty="0" smtClean="0">
                          <a:solidFill>
                            <a:srgbClr val="333333"/>
                          </a:solidFill>
                          <a:latin typeface="Calibri"/>
                          <a:ea typeface="+mn-ea"/>
                          <a:cs typeface="+mn-cs"/>
                        </a:rPr>
                        <a:t>lack of generalization (F1 drops to 0.6532 cross-platform)</a:t>
                      </a:r>
                      <a:r>
                        <a:rPr lang="en-US" sz="1200" b="0" dirty="0" smtClean="0">
                          <a:solidFill>
                            <a:srgbClr val="333333"/>
                          </a:solidFill>
                          <a:latin typeface="Calibri"/>
                          <a:ea typeface="+mn-ea"/>
                          <a:cs typeface="+mn-cs"/>
                        </a:rPr>
                        <a:t/>
                      </a:r>
                      <a:br>
                        <a:rPr lang="en-US" sz="1200" b="0" dirty="0" smtClean="0">
                          <a:solidFill>
                            <a:srgbClr val="333333"/>
                          </a:solidFill>
                          <a:latin typeface="Calibri"/>
                          <a:ea typeface="+mn-ea"/>
                          <a:cs typeface="+mn-cs"/>
                        </a:rPr>
                      </a:br>
                      <a:endParaRPr sz="1200" b="0" dirty="0">
                        <a:solidFill>
                          <a:srgbClr val="333333"/>
                        </a:solidFill>
                        <a:latin typeface="Calibri"/>
                        <a:ea typeface="+mn-ea"/>
                        <a:cs typeface="+mn-cs"/>
                      </a:endParaRPr>
                    </a:p>
                  </a:txBody>
                  <a:tcPr>
                    <a:solidFill>
                      <a:srgbClr val="FAF7F0"/>
                    </a:solidFill>
                  </a:tcPr>
                </a:tc>
                <a:tc>
                  <a:txBody>
                    <a:bodyPr/>
                    <a:lstStyle/>
                    <a:p>
                      <a:pPr>
                        <a:defRPr/>
                      </a:pPr>
                      <a:r>
                        <a:rPr sz="1200" b="0" dirty="0">
                          <a:solidFill>
                            <a:srgbClr val="333333"/>
                          </a:solidFill>
                          <a:latin typeface="Calibri"/>
                        </a:rPr>
                        <a:t>Foundational paper, ML baseline (RQ1)</a:t>
                      </a:r>
                      <a:endParaRPr dirty="0"/>
                    </a:p>
                  </a:txBody>
                  <a:tcPr>
                    <a:solidFill>
                      <a:srgbClr val="FAF7F0"/>
                    </a:solidFill>
                  </a:tcPr>
                </a:tc>
                <a:extLst>
                  <a:ext uri="{0D108BD9-81ED-4DB2-BD59-A6C34878D82A}">
                    <a16:rowId xmlns:a16="http://schemas.microsoft.com/office/drawing/2014/main" val="10001"/>
                  </a:ext>
                </a:extLst>
              </a:tr>
              <a:tr h="679268">
                <a:tc>
                  <a:txBody>
                    <a:bodyPr/>
                    <a:lstStyle/>
                    <a:p>
                      <a:pPr>
                        <a:defRPr/>
                      </a:pPr>
                      <a:r>
                        <a:rPr sz="1200" b="1" dirty="0">
                          <a:solidFill>
                            <a:srgbClr val="333333"/>
                          </a:solidFill>
                          <a:latin typeface="Calibri"/>
                        </a:rPr>
                        <a:t>RACONTEUR (2025) [2]</a:t>
                      </a:r>
                      <a:endParaRPr dirty="0"/>
                    </a:p>
                  </a:txBody>
                  <a:tcPr>
                    <a:solidFill>
                      <a:srgbClr val="FFFFFF"/>
                    </a:solidFill>
                  </a:tcPr>
                </a:tc>
                <a:tc>
                  <a:txBody>
                    <a:bodyPr/>
                    <a:lstStyle/>
                    <a:p>
                      <a:pPr>
                        <a:defRPr/>
                      </a:pPr>
                      <a:r>
                        <a:rPr sz="1200" b="0" dirty="0">
                          <a:solidFill>
                            <a:srgbClr val="333333"/>
                          </a:solidFill>
                          <a:latin typeface="Calibri"/>
                        </a:rPr>
                        <a:t>LLM shell explainer, passive only</a:t>
                      </a:r>
                      <a:endParaRPr dirty="0"/>
                    </a:p>
                  </a:txBody>
                  <a:tcPr>
                    <a:solidFill>
                      <a:srgbClr val="FFFFFF"/>
                    </a:solidFill>
                  </a:tcPr>
                </a:tc>
                <a:tc>
                  <a:txBody>
                    <a:bodyPr/>
                    <a:lstStyle/>
                    <a:p>
                      <a:pPr>
                        <a:defRPr/>
                      </a:pPr>
                      <a:r>
                        <a:rPr sz="1200" b="0">
                          <a:solidFill>
                            <a:srgbClr val="333333"/>
                          </a:solidFill>
                          <a:latin typeface="Calibri"/>
                        </a:rPr>
                        <a:t>Extends explanation into active investigation</a:t>
                      </a:r>
                      <a:endParaRPr/>
                    </a:p>
                  </a:txBody>
                  <a:tcPr>
                    <a:solidFill>
                      <a:srgbClr val="FFFFFF"/>
                    </a:solidFill>
                  </a:tcPr>
                </a:tc>
                <a:extLst>
                  <a:ext uri="{0D108BD9-81ED-4DB2-BD59-A6C34878D82A}">
                    <a16:rowId xmlns:a16="http://schemas.microsoft.com/office/drawing/2014/main" val="10002"/>
                  </a:ext>
                </a:extLst>
              </a:tr>
              <a:tr h="679268">
                <a:tc>
                  <a:txBody>
                    <a:bodyPr/>
                    <a:lstStyle/>
                    <a:p>
                      <a:pPr>
                        <a:defRPr/>
                      </a:pPr>
                      <a:r>
                        <a:rPr sz="1200" b="1" dirty="0">
                          <a:solidFill>
                            <a:srgbClr val="333333"/>
                          </a:solidFill>
                          <a:latin typeface="Calibri"/>
                        </a:rPr>
                        <a:t>Risk Assessment (2025) [3]</a:t>
                      </a:r>
                      <a:endParaRPr dirty="0"/>
                    </a:p>
                  </a:txBody>
                  <a:tcPr>
                    <a:solidFill>
                      <a:srgbClr val="FAF7F0"/>
                    </a:solidFill>
                  </a:tcPr>
                </a:tc>
                <a:tc>
                  <a:txBody>
                    <a:bodyPr/>
                    <a:lstStyle/>
                    <a:p>
                      <a:pPr>
                        <a:defRPr/>
                      </a:pPr>
                      <a:r>
                        <a:rPr sz="1200" b="0" dirty="0">
                          <a:solidFill>
                            <a:srgbClr val="333333"/>
                          </a:solidFill>
                          <a:latin typeface="Calibri"/>
                        </a:rPr>
                        <a:t>LLM risk scoring (R0–R4)</a:t>
                      </a:r>
                      <a:endParaRPr dirty="0"/>
                    </a:p>
                  </a:txBody>
                  <a:tcPr>
                    <a:solidFill>
                      <a:srgbClr val="FAF7F0"/>
                    </a:solidFill>
                  </a:tcPr>
                </a:tc>
                <a:tc>
                  <a:txBody>
                    <a:bodyPr/>
                    <a:lstStyle/>
                    <a:p>
                      <a:pPr>
                        <a:defRPr/>
                      </a:pPr>
                      <a:r>
                        <a:rPr sz="1200" b="0">
                          <a:solidFill>
                            <a:srgbClr val="333333"/>
                          </a:solidFill>
                          <a:latin typeface="Calibri"/>
                        </a:rPr>
                        <a:t>Foundation for graded response actions</a:t>
                      </a:r>
                      <a:endParaRPr/>
                    </a:p>
                  </a:txBody>
                  <a:tcPr>
                    <a:solidFill>
                      <a:srgbClr val="FAF7F0"/>
                    </a:solidFill>
                  </a:tcPr>
                </a:tc>
                <a:extLst>
                  <a:ext uri="{0D108BD9-81ED-4DB2-BD59-A6C34878D82A}">
                    <a16:rowId xmlns:a16="http://schemas.microsoft.com/office/drawing/2014/main" val="10003"/>
                  </a:ext>
                </a:extLst>
              </a:tr>
              <a:tr h="679268">
                <a:tc>
                  <a:txBody>
                    <a:bodyPr/>
                    <a:lstStyle/>
                    <a:p>
                      <a:pPr>
                        <a:defRPr/>
                      </a:pPr>
                      <a:r>
                        <a:rPr sz="1200" b="1" dirty="0">
                          <a:solidFill>
                            <a:srgbClr val="333333"/>
                          </a:solidFill>
                          <a:latin typeface="Calibri"/>
                        </a:rPr>
                        <a:t>SENTINEL (2026</a:t>
                      </a:r>
                      <a:r>
                        <a:rPr sz="1200" b="1" dirty="0" smtClean="0">
                          <a:solidFill>
                            <a:srgbClr val="333333"/>
                          </a:solidFill>
                          <a:latin typeface="Calibri"/>
                        </a:rPr>
                        <a:t>)</a:t>
                      </a:r>
                      <a:r>
                        <a:rPr lang="ar-SY" sz="1200" b="1" dirty="0" smtClean="0">
                          <a:solidFill>
                            <a:srgbClr val="333333"/>
                          </a:solidFill>
                          <a:latin typeface="Calibri"/>
                        </a:rPr>
                        <a:t> </a:t>
                      </a:r>
                      <a:r>
                        <a:rPr lang="ar-SY" sz="1200" b="1" dirty="0">
                          <a:solidFill>
                            <a:srgbClr val="333333"/>
                          </a:solidFill>
                          <a:latin typeface="Calibri"/>
                          <a:ea typeface="+mn-ea"/>
                          <a:cs typeface="+mn-cs"/>
                        </a:rPr>
                        <a:t> </a:t>
                      </a:r>
                      <a:r>
                        <a:rPr lang="ar-SY" sz="1200" b="1" dirty="0" smtClean="0">
                          <a:solidFill>
                            <a:srgbClr val="333333"/>
                          </a:solidFill>
                          <a:latin typeface="Calibri"/>
                          <a:ea typeface="+mn-ea"/>
                          <a:cs typeface="+mn-cs"/>
                        </a:rPr>
                        <a:t> </a:t>
                      </a:r>
                      <a:r>
                        <a:rPr lang="en-US" sz="1200" b="1" dirty="0" smtClean="0">
                          <a:solidFill>
                            <a:srgbClr val="333333"/>
                          </a:solidFill>
                          <a:latin typeface="Calibri"/>
                          <a:ea typeface="+mn-ea"/>
                          <a:cs typeface="+mn-cs"/>
                        </a:rPr>
                        <a:t>[4]</a:t>
                      </a:r>
                      <a:endParaRPr dirty="0"/>
                    </a:p>
                  </a:txBody>
                  <a:tcPr>
                    <a:solidFill>
                      <a:srgbClr val="FFFFFF"/>
                    </a:solidFill>
                  </a:tcPr>
                </a:tc>
                <a:tc>
                  <a:txBody>
                    <a:bodyPr/>
                    <a:lstStyle/>
                    <a:p>
                      <a:pPr>
                        <a:defRPr/>
                      </a:pPr>
                      <a:r>
                        <a:rPr sz="1200" b="0" dirty="0">
                          <a:solidFill>
                            <a:srgbClr val="333333"/>
                          </a:solidFill>
                          <a:latin typeface="Calibri"/>
                        </a:rPr>
                        <a:t>Identifies obfuscation failure modes</a:t>
                      </a:r>
                      <a:endParaRPr dirty="0"/>
                    </a:p>
                  </a:txBody>
                  <a:tcPr>
                    <a:solidFill>
                      <a:srgbClr val="FFFFFF"/>
                    </a:solidFill>
                  </a:tcPr>
                </a:tc>
                <a:tc>
                  <a:txBody>
                    <a:bodyPr/>
                    <a:lstStyle/>
                    <a:p>
                      <a:pPr>
                        <a:defRPr/>
                      </a:pPr>
                      <a:r>
                        <a:rPr sz="1200" b="0">
                          <a:solidFill>
                            <a:srgbClr val="333333"/>
                          </a:solidFill>
                          <a:latin typeface="Calibri"/>
                        </a:rPr>
                        <a:t>Validates our obfuscation datasets</a:t>
                      </a:r>
                      <a:endParaRPr/>
                    </a:p>
                  </a:txBody>
                  <a:tcPr>
                    <a:solidFill>
                      <a:srgbClr val="FFFFFF"/>
                    </a:solidFill>
                  </a:tcPr>
                </a:tc>
                <a:extLst>
                  <a:ext uri="{0D108BD9-81ED-4DB2-BD59-A6C34878D82A}">
                    <a16:rowId xmlns:a16="http://schemas.microsoft.com/office/drawing/2014/main" val="10004"/>
                  </a:ext>
                </a:extLst>
              </a:tr>
              <a:tr h="679268">
                <a:tc>
                  <a:txBody>
                    <a:bodyPr/>
                    <a:lstStyle/>
                    <a:p>
                      <a:pPr>
                        <a:defRPr/>
                      </a:pPr>
                      <a:r>
                        <a:rPr sz="1200" b="1" dirty="0">
                          <a:solidFill>
                            <a:srgbClr val="333333"/>
                          </a:solidFill>
                          <a:latin typeface="Calibri"/>
                        </a:rPr>
                        <a:t>Supervised </a:t>
                      </a:r>
                      <a:r>
                        <a:rPr sz="1200" b="1" dirty="0" err="1">
                          <a:solidFill>
                            <a:srgbClr val="333333"/>
                          </a:solidFill>
                          <a:latin typeface="Calibri"/>
                        </a:rPr>
                        <a:t>LOLBins</a:t>
                      </a:r>
                      <a:r>
                        <a:rPr sz="1200" b="1" dirty="0">
                          <a:solidFill>
                            <a:srgbClr val="333333"/>
                          </a:solidFill>
                          <a:latin typeface="Calibri"/>
                        </a:rPr>
                        <a:t> (2024</a:t>
                      </a:r>
                      <a:r>
                        <a:rPr sz="1200" b="1" dirty="0" smtClean="0">
                          <a:solidFill>
                            <a:srgbClr val="333333"/>
                          </a:solidFill>
                          <a:latin typeface="Calibri"/>
                        </a:rPr>
                        <a:t>)</a:t>
                      </a:r>
                      <a:r>
                        <a:rPr lang="en-US" sz="1200" b="1" dirty="0" smtClean="0">
                          <a:solidFill>
                            <a:srgbClr val="333333"/>
                          </a:solidFill>
                          <a:latin typeface="Calibri"/>
                        </a:rPr>
                        <a:t> [5]</a:t>
                      </a:r>
                      <a:endParaRPr dirty="0"/>
                    </a:p>
                  </a:txBody>
                  <a:tcPr>
                    <a:solidFill>
                      <a:srgbClr val="FAF7F0"/>
                    </a:solidFill>
                  </a:tcPr>
                </a:tc>
                <a:tc>
                  <a:txBody>
                    <a:bodyPr/>
                    <a:lstStyle/>
                    <a:p>
                      <a:pPr>
                        <a:defRPr/>
                      </a:pPr>
                      <a:r>
                        <a:rPr sz="1200" b="0" dirty="0">
                          <a:solidFill>
                            <a:srgbClr val="333333"/>
                          </a:solidFill>
                          <a:latin typeface="Calibri"/>
                        </a:rPr>
                        <a:t>Class imbalance in ML datasets</a:t>
                      </a:r>
                      <a:endParaRPr dirty="0"/>
                    </a:p>
                  </a:txBody>
                  <a:tcPr>
                    <a:solidFill>
                      <a:srgbClr val="FAF7F0"/>
                    </a:solidFill>
                  </a:tcPr>
                </a:tc>
                <a:tc>
                  <a:txBody>
                    <a:bodyPr/>
                    <a:lstStyle/>
                    <a:p>
                      <a:pPr>
                        <a:defRPr/>
                      </a:pPr>
                      <a:r>
                        <a:rPr sz="1200" b="0">
                          <a:solidFill>
                            <a:srgbClr val="333333"/>
                          </a:solidFill>
                          <a:latin typeface="Calibri"/>
                        </a:rPr>
                        <a:t>Supports LLM approach (no large labels needed)</a:t>
                      </a:r>
                      <a:endParaRPr/>
                    </a:p>
                  </a:txBody>
                  <a:tcPr>
                    <a:solidFill>
                      <a:srgbClr val="FAF7F0"/>
                    </a:solidFill>
                  </a:tcPr>
                </a:tc>
                <a:extLst>
                  <a:ext uri="{0D108BD9-81ED-4DB2-BD59-A6C34878D82A}">
                    <a16:rowId xmlns:a16="http://schemas.microsoft.com/office/drawing/2014/main" val="10005"/>
                  </a:ext>
                </a:extLst>
              </a:tr>
              <a:tr h="679272">
                <a:tc>
                  <a:txBody>
                    <a:bodyPr/>
                    <a:lstStyle/>
                    <a:p>
                      <a:pPr>
                        <a:defRPr/>
                      </a:pPr>
                      <a:r>
                        <a:rPr sz="1200" b="1" dirty="0" err="1">
                          <a:solidFill>
                            <a:srgbClr val="333333"/>
                          </a:solidFill>
                          <a:latin typeface="Calibri"/>
                        </a:rPr>
                        <a:t>BlueSTAR</a:t>
                      </a:r>
                      <a:r>
                        <a:rPr sz="1200" b="1" dirty="0">
                          <a:solidFill>
                            <a:srgbClr val="333333"/>
                          </a:solidFill>
                          <a:latin typeface="Calibri"/>
                        </a:rPr>
                        <a:t> (2026</a:t>
                      </a:r>
                      <a:r>
                        <a:rPr sz="1200" b="1" dirty="0" smtClean="0">
                          <a:solidFill>
                            <a:srgbClr val="333333"/>
                          </a:solidFill>
                          <a:latin typeface="Calibri"/>
                        </a:rPr>
                        <a:t>)</a:t>
                      </a:r>
                      <a:r>
                        <a:rPr lang="en-US" sz="1200" b="1" baseline="0" dirty="0" smtClean="0">
                          <a:solidFill>
                            <a:srgbClr val="333333"/>
                          </a:solidFill>
                          <a:latin typeface="Calibri"/>
                        </a:rPr>
                        <a:t> [6]</a:t>
                      </a:r>
                      <a:endParaRPr dirty="0"/>
                    </a:p>
                  </a:txBody>
                  <a:tcPr>
                    <a:solidFill>
                      <a:srgbClr val="FFFFFF"/>
                    </a:solidFill>
                  </a:tcPr>
                </a:tc>
                <a:tc>
                  <a:txBody>
                    <a:bodyPr/>
                    <a:lstStyle/>
                    <a:p>
                      <a:pPr>
                        <a:defRPr/>
                      </a:pPr>
                      <a:r>
                        <a:rPr sz="1200" b="0" dirty="0">
                          <a:solidFill>
                            <a:srgbClr val="333333"/>
                          </a:solidFill>
                          <a:latin typeface="Calibri"/>
                        </a:rPr>
                        <a:t>Tiered architecture (rules + LLM)</a:t>
                      </a:r>
                      <a:endParaRPr dirty="0"/>
                    </a:p>
                  </a:txBody>
                  <a:tcPr>
                    <a:solidFill>
                      <a:srgbClr val="FFFFFF"/>
                    </a:solidFill>
                  </a:tcPr>
                </a:tc>
                <a:tc>
                  <a:txBody>
                    <a:bodyPr/>
                    <a:lstStyle/>
                    <a:p>
                      <a:pPr>
                        <a:defRPr/>
                      </a:pPr>
                      <a:r>
                        <a:rPr sz="1200" b="0" dirty="0">
                          <a:solidFill>
                            <a:srgbClr val="333333"/>
                          </a:solidFill>
                          <a:latin typeface="Calibri"/>
                        </a:rPr>
                        <a:t>Inspires our rules/AI split architecture</a:t>
                      </a:r>
                      <a:endParaRPr dirty="0"/>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84770716" name="TextBox 1"/>
          <p:cNvSpPr txBox="1"/>
          <p:nvPr/>
        </p:nvSpPr>
        <p:spPr bwMode="auto">
          <a:xfrm>
            <a:off x="548640" y="292608"/>
            <a:ext cx="11064240" cy="731520"/>
          </a:xfrm>
          <a:prstGeom prst="rect">
            <a:avLst/>
          </a:prstGeom>
          <a:noFill/>
        </p:spPr>
        <p:txBody>
          <a:bodyPr wrap="square" anchor="t">
            <a:spAutoFit/>
          </a:bodyPr>
          <a:lstStyle/>
          <a:p>
            <a:pPr algn="l">
              <a:lnSpc>
                <a:spcPct val="100000"/>
              </a:lnSpc>
              <a:spcAft>
                <a:spcPts val="800"/>
              </a:spcAft>
              <a:defRPr/>
            </a:pPr>
            <a:r>
              <a:rPr sz="2800" b="1">
                <a:solidFill>
                  <a:srgbClr val="1B2A4A"/>
                </a:solidFill>
                <a:latin typeface="Georgia"/>
              </a:rPr>
              <a:t>Previous Work — Part 2: The Agentic Era</a:t>
            </a:r>
            <a:endParaRPr/>
          </a:p>
        </p:txBody>
      </p:sp>
      <p:sp>
        <p:nvSpPr>
          <p:cNvPr id="79595748" name="Rectangle 2"/>
          <p:cNvSpPr/>
          <p:nvPr/>
        </p:nvSpPr>
        <p:spPr bwMode="auto">
          <a:xfrm>
            <a:off x="566928" y="932688"/>
            <a:ext cx="1463040" cy="31750"/>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6425816" name="Rectangle 3"/>
          <p:cNvSpPr/>
          <p:nvPr/>
        </p:nvSpPr>
        <p:spPr bwMode="auto">
          <a:xfrm>
            <a:off x="2103120" y="932688"/>
            <a:ext cx="9509760"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1306610" name="Rectangle 4"/>
          <p:cNvSpPr/>
          <p:nvPr/>
        </p:nvSpPr>
        <p:spPr bwMode="auto">
          <a:xfrm>
            <a:off x="548640" y="6473952"/>
            <a:ext cx="11091672"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08062982"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800"/>
              </a:spcAft>
              <a:defRPr/>
            </a:pPr>
            <a:r>
              <a:rPr sz="900" b="0">
                <a:solidFill>
                  <a:srgbClr val="5A5A5A"/>
                </a:solidFill>
                <a:latin typeface="Georgia"/>
              </a:rPr>
              <a:t>LOTL-ARIA — Graduation Project Seminar  ·  Syrian Private University, 2026</a:t>
            </a:r>
            <a:endParaRPr/>
          </a:p>
        </p:txBody>
      </p:sp>
      <p:sp>
        <p:nvSpPr>
          <p:cNvPr id="1067732394" name="TextBox 6"/>
          <p:cNvSpPr txBox="1"/>
          <p:nvPr/>
        </p:nvSpPr>
        <p:spPr bwMode="auto">
          <a:xfrm>
            <a:off x="10698480" y="6510528"/>
            <a:ext cx="914400" cy="274320"/>
          </a:xfrm>
          <a:prstGeom prst="rect">
            <a:avLst/>
          </a:prstGeom>
          <a:noFill/>
        </p:spPr>
        <p:txBody>
          <a:bodyPr wrap="square" anchor="t">
            <a:spAutoFit/>
          </a:bodyPr>
          <a:lstStyle/>
          <a:p>
            <a:pPr algn="r">
              <a:lnSpc>
                <a:spcPct val="100000"/>
              </a:lnSpc>
              <a:spcAft>
                <a:spcPts val="800"/>
              </a:spcAft>
              <a:defRPr/>
            </a:pPr>
            <a:r>
              <a:rPr sz="1000" b="1">
                <a:solidFill>
                  <a:srgbClr val="7B1E3B"/>
                </a:solidFill>
                <a:latin typeface="Georgia"/>
              </a:rPr>
              <a:t>5</a:t>
            </a:r>
            <a:endParaRPr/>
          </a:p>
        </p:txBody>
      </p:sp>
      <p:graphicFrame>
        <p:nvGraphicFramePr>
          <p:cNvPr id="1977098656" name="Table 7"/>
          <p:cNvGraphicFramePr>
            <a:graphicFrameLocks noGrp="1"/>
          </p:cNvGraphicFramePr>
          <p:nvPr>
            <p:extLst>
              <p:ext uri="{D42A27DB-BD31-4B8C-83A1-F6EECF244321}">
                <p14:modId xmlns:p14="http://schemas.microsoft.com/office/powerpoint/2010/main" val="1828219687"/>
              </p:ext>
            </p:extLst>
          </p:nvPr>
        </p:nvGraphicFramePr>
        <p:xfrm>
          <a:off x="502920" y="1463040"/>
          <a:ext cx="11201399" cy="411480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160519">
                  <a:extLst>
                    <a:ext uri="{9D8B030D-6E8A-4147-A177-3AD203B41FA5}">
                      <a16:colId xmlns:a16="http://schemas.microsoft.com/office/drawing/2014/main" val="20002"/>
                    </a:ext>
                  </a:extLst>
                </a:gridCol>
              </a:tblGrid>
              <a:tr h="685800">
                <a:tc>
                  <a:txBody>
                    <a:bodyPr/>
                    <a:lstStyle/>
                    <a:p>
                      <a:pPr>
                        <a:defRPr/>
                      </a:pPr>
                      <a:r>
                        <a:rPr sz="1400" b="1">
                          <a:solidFill>
                            <a:srgbClr val="FFFFFF"/>
                          </a:solidFill>
                          <a:latin typeface="Georgia"/>
                        </a:rPr>
                        <a:t>Paper &amp; Year</a:t>
                      </a:r>
                      <a:endParaRPr/>
                    </a:p>
                  </a:txBody>
                  <a:tcPr>
                    <a:solidFill>
                      <a:srgbClr val="1B2A4A"/>
                    </a:solidFill>
                  </a:tcPr>
                </a:tc>
                <a:tc>
                  <a:txBody>
                    <a:bodyPr/>
                    <a:lstStyle/>
                    <a:p>
                      <a:pPr>
                        <a:defRPr/>
                      </a:pPr>
                      <a:r>
                        <a:rPr sz="1400" b="1">
                          <a:solidFill>
                            <a:srgbClr val="FFFFFF"/>
                          </a:solidFill>
                          <a:latin typeface="Georgia"/>
                        </a:rPr>
                        <a:t>Core Contribution</a:t>
                      </a:r>
                      <a:endParaRPr/>
                    </a:p>
                  </a:txBody>
                  <a:tcPr>
                    <a:solidFill>
                      <a:srgbClr val="1B2A4A"/>
                    </a:solidFill>
                  </a:tcPr>
                </a:tc>
                <a:tc>
                  <a:txBody>
                    <a:bodyPr/>
                    <a:lstStyle/>
                    <a:p>
                      <a:pPr>
                        <a:defRPr/>
                      </a:pPr>
                      <a:r>
                        <a:rPr sz="1400" b="1">
                          <a:solidFill>
                            <a:srgbClr val="FFFFFF"/>
                          </a:solidFill>
                          <a:latin typeface="Georgia"/>
                        </a:rPr>
                        <a:t>Relationship to Project</a:t>
                      </a:r>
                      <a:endParaRPr/>
                    </a:p>
                  </a:txBody>
                  <a:tcPr>
                    <a:solidFill>
                      <a:srgbClr val="1B2A4A"/>
                    </a:solidFill>
                  </a:tcPr>
                </a:tc>
                <a:extLst>
                  <a:ext uri="{0D108BD9-81ED-4DB2-BD59-A6C34878D82A}">
                    <a16:rowId xmlns:a16="http://schemas.microsoft.com/office/drawing/2014/main" val="10000"/>
                  </a:ext>
                </a:extLst>
              </a:tr>
              <a:tr h="685800">
                <a:tc>
                  <a:txBody>
                    <a:bodyPr/>
                    <a:lstStyle/>
                    <a:p>
                      <a:pPr>
                        <a:defRPr/>
                      </a:pPr>
                      <a:r>
                        <a:rPr sz="1200" b="1" dirty="0" err="1">
                          <a:solidFill>
                            <a:srgbClr val="333333"/>
                          </a:solidFill>
                          <a:latin typeface="Calibri"/>
                        </a:rPr>
                        <a:t>AgentSOC</a:t>
                      </a:r>
                      <a:r>
                        <a:rPr sz="1200" b="1" dirty="0">
                          <a:solidFill>
                            <a:srgbClr val="333333"/>
                          </a:solidFill>
                          <a:latin typeface="Calibri"/>
                        </a:rPr>
                        <a:t> (2026</a:t>
                      </a:r>
                      <a:r>
                        <a:rPr sz="1200" b="1" dirty="0" smtClean="0">
                          <a:solidFill>
                            <a:srgbClr val="333333"/>
                          </a:solidFill>
                          <a:latin typeface="Calibri"/>
                        </a:rPr>
                        <a:t>)</a:t>
                      </a:r>
                      <a:r>
                        <a:rPr lang="en-US" sz="1200" b="1" baseline="0" dirty="0" smtClean="0">
                          <a:solidFill>
                            <a:srgbClr val="333333"/>
                          </a:solidFill>
                          <a:latin typeface="Calibri"/>
                        </a:rPr>
                        <a:t> [7]</a:t>
                      </a:r>
                      <a:endParaRPr dirty="0"/>
                    </a:p>
                  </a:txBody>
                  <a:tcPr>
                    <a:solidFill>
                      <a:srgbClr val="FAF7F0"/>
                    </a:solidFill>
                  </a:tcPr>
                </a:tc>
                <a:tc>
                  <a:txBody>
                    <a:bodyPr/>
                    <a:lstStyle/>
                    <a:p>
                      <a:pPr>
                        <a:defRPr/>
                      </a:pPr>
                      <a:r>
                        <a:rPr sz="1200" b="0">
                          <a:solidFill>
                            <a:srgbClr val="333333"/>
                          </a:solidFill>
                          <a:latin typeface="Calibri"/>
                        </a:rPr>
                        <a:t>Multi-layer agentic SOC, dry-run only</a:t>
                      </a:r>
                      <a:endParaRPr/>
                    </a:p>
                  </a:txBody>
                  <a:tcPr>
                    <a:solidFill>
                      <a:srgbClr val="FAF7F0"/>
                    </a:solidFill>
                  </a:tcPr>
                </a:tc>
                <a:tc>
                  <a:txBody>
                    <a:bodyPr/>
                    <a:lstStyle/>
                    <a:p>
                      <a:pPr>
                        <a:defRPr/>
                      </a:pPr>
                      <a:r>
                        <a:rPr sz="1200" b="0">
                          <a:solidFill>
                            <a:srgbClr val="333333"/>
                          </a:solidFill>
                          <a:latin typeface="Calibri"/>
                        </a:rPr>
                        <a:t>We fix their dry-run limitation with live execution</a:t>
                      </a:r>
                      <a:endParaRPr/>
                    </a:p>
                  </a:txBody>
                  <a:tcPr>
                    <a:solidFill>
                      <a:srgbClr val="FAF7F0"/>
                    </a:solidFill>
                  </a:tcPr>
                </a:tc>
                <a:extLst>
                  <a:ext uri="{0D108BD9-81ED-4DB2-BD59-A6C34878D82A}">
                    <a16:rowId xmlns:a16="http://schemas.microsoft.com/office/drawing/2014/main" val="10001"/>
                  </a:ext>
                </a:extLst>
              </a:tr>
              <a:tr h="685800">
                <a:tc>
                  <a:txBody>
                    <a:bodyPr/>
                    <a:lstStyle/>
                    <a:p>
                      <a:pPr>
                        <a:defRPr/>
                      </a:pPr>
                      <a:r>
                        <a:rPr sz="1200" b="1" dirty="0">
                          <a:solidFill>
                            <a:srgbClr val="333333"/>
                          </a:solidFill>
                          <a:latin typeface="Calibri"/>
                        </a:rPr>
                        <a:t>Hyper-Auto SOAR (2025</a:t>
                      </a:r>
                      <a:r>
                        <a:rPr sz="1200" b="1" dirty="0" smtClean="0">
                          <a:solidFill>
                            <a:srgbClr val="333333"/>
                          </a:solidFill>
                          <a:latin typeface="Calibri"/>
                        </a:rPr>
                        <a:t>)</a:t>
                      </a:r>
                      <a:r>
                        <a:rPr lang="en-US" sz="1200" b="1" dirty="0" smtClean="0">
                          <a:solidFill>
                            <a:srgbClr val="333333"/>
                          </a:solidFill>
                          <a:latin typeface="Calibri"/>
                        </a:rPr>
                        <a:t> [8]</a:t>
                      </a:r>
                      <a:endParaRPr dirty="0"/>
                    </a:p>
                  </a:txBody>
                  <a:tcPr>
                    <a:solidFill>
                      <a:srgbClr val="FFFFFF"/>
                    </a:solidFill>
                  </a:tcPr>
                </a:tc>
                <a:tc>
                  <a:txBody>
                    <a:bodyPr/>
                    <a:lstStyle/>
                    <a:p>
                      <a:pPr>
                        <a:defRPr/>
                      </a:pPr>
                      <a:r>
                        <a:rPr sz="1200" b="0">
                          <a:solidFill>
                            <a:srgbClr val="333333"/>
                          </a:solidFill>
                          <a:latin typeface="Calibri"/>
                        </a:rPr>
                        <a:t>Dynamic AI playbooks, safety risks</a:t>
                      </a:r>
                      <a:endParaRPr/>
                    </a:p>
                  </a:txBody>
                  <a:tcPr>
                    <a:solidFill>
                      <a:srgbClr val="FFFFFF"/>
                    </a:solidFill>
                  </a:tcPr>
                </a:tc>
                <a:tc>
                  <a:txBody>
                    <a:bodyPr/>
                    <a:lstStyle/>
                    <a:p>
                      <a:pPr>
                        <a:defRPr/>
                      </a:pPr>
                      <a:r>
                        <a:rPr sz="1200" b="0">
                          <a:solidFill>
                            <a:srgbClr val="333333"/>
                          </a:solidFill>
                          <a:latin typeface="Calibri"/>
                        </a:rPr>
                        <a:t>Motivates our deterministic Safety Gate</a:t>
                      </a:r>
                      <a:endParaRPr/>
                    </a:p>
                  </a:txBody>
                  <a:tcPr>
                    <a:solidFill>
                      <a:srgbClr val="FFFFFF"/>
                    </a:solidFill>
                  </a:tcPr>
                </a:tc>
                <a:extLst>
                  <a:ext uri="{0D108BD9-81ED-4DB2-BD59-A6C34878D82A}">
                    <a16:rowId xmlns:a16="http://schemas.microsoft.com/office/drawing/2014/main" val="10002"/>
                  </a:ext>
                </a:extLst>
              </a:tr>
              <a:tr h="685800">
                <a:tc>
                  <a:txBody>
                    <a:bodyPr/>
                    <a:lstStyle/>
                    <a:p>
                      <a:pPr>
                        <a:defRPr/>
                      </a:pPr>
                      <a:r>
                        <a:rPr sz="1200" b="1" dirty="0">
                          <a:solidFill>
                            <a:srgbClr val="333333"/>
                          </a:solidFill>
                          <a:latin typeface="Calibri"/>
                        </a:rPr>
                        <a:t>GIRA (2026</a:t>
                      </a:r>
                      <a:r>
                        <a:rPr sz="1200" b="1" dirty="0" smtClean="0">
                          <a:solidFill>
                            <a:srgbClr val="333333"/>
                          </a:solidFill>
                          <a:latin typeface="Calibri"/>
                        </a:rPr>
                        <a:t>)</a:t>
                      </a:r>
                      <a:r>
                        <a:rPr lang="en-US" sz="1200" b="1" dirty="0" smtClean="0">
                          <a:solidFill>
                            <a:srgbClr val="333333"/>
                          </a:solidFill>
                          <a:latin typeface="Calibri"/>
                        </a:rPr>
                        <a:t> [9]</a:t>
                      </a:r>
                      <a:endParaRPr dirty="0"/>
                    </a:p>
                  </a:txBody>
                  <a:tcPr>
                    <a:solidFill>
                      <a:srgbClr val="FAF7F0"/>
                    </a:solidFill>
                  </a:tcPr>
                </a:tc>
                <a:tc>
                  <a:txBody>
                    <a:bodyPr/>
                    <a:lstStyle/>
                    <a:p>
                      <a:pPr>
                        <a:defRPr/>
                      </a:pPr>
                      <a:r>
                        <a:rPr sz="1200" b="0">
                          <a:solidFill>
                            <a:srgbClr val="333333"/>
                          </a:solidFill>
                          <a:latin typeface="Calibri"/>
                        </a:rPr>
                        <a:t>5-layer Safety Gate</a:t>
                      </a:r>
                      <a:endParaRPr/>
                    </a:p>
                  </a:txBody>
                  <a:tcPr>
                    <a:solidFill>
                      <a:srgbClr val="FAF7F0"/>
                    </a:solidFill>
                  </a:tcPr>
                </a:tc>
                <a:tc>
                  <a:txBody>
                    <a:bodyPr/>
                    <a:lstStyle/>
                    <a:p>
                      <a:pPr>
                        <a:defRPr/>
                      </a:pPr>
                      <a:r>
                        <a:rPr sz="1200" b="0">
                          <a:solidFill>
                            <a:srgbClr val="333333"/>
                          </a:solidFill>
                          <a:latin typeface="Calibri"/>
                        </a:rPr>
                        <a:t>Informs our Safety Gate design</a:t>
                      </a:r>
                      <a:endParaRPr/>
                    </a:p>
                  </a:txBody>
                  <a:tcPr>
                    <a:solidFill>
                      <a:srgbClr val="FAF7F0"/>
                    </a:solidFill>
                  </a:tcPr>
                </a:tc>
                <a:extLst>
                  <a:ext uri="{0D108BD9-81ED-4DB2-BD59-A6C34878D82A}">
                    <a16:rowId xmlns:a16="http://schemas.microsoft.com/office/drawing/2014/main" val="10003"/>
                  </a:ext>
                </a:extLst>
              </a:tr>
              <a:tr h="685800">
                <a:tc>
                  <a:txBody>
                    <a:bodyPr/>
                    <a:lstStyle/>
                    <a:p>
                      <a:pPr>
                        <a:defRPr/>
                      </a:pPr>
                      <a:r>
                        <a:rPr sz="1200" b="1" dirty="0">
                          <a:solidFill>
                            <a:srgbClr val="333333"/>
                          </a:solidFill>
                          <a:latin typeface="Calibri"/>
                        </a:rPr>
                        <a:t>Poisoning Watchtower (2026</a:t>
                      </a:r>
                      <a:r>
                        <a:rPr sz="1200" b="1" dirty="0" smtClean="0">
                          <a:solidFill>
                            <a:srgbClr val="333333"/>
                          </a:solidFill>
                          <a:latin typeface="Calibri"/>
                        </a:rPr>
                        <a:t>)</a:t>
                      </a:r>
                      <a:r>
                        <a:rPr lang="en-US" sz="1200" b="1" dirty="0" smtClean="0">
                          <a:solidFill>
                            <a:srgbClr val="333333"/>
                          </a:solidFill>
                          <a:latin typeface="Calibri"/>
                        </a:rPr>
                        <a:t> [10]</a:t>
                      </a:r>
                      <a:endParaRPr dirty="0"/>
                    </a:p>
                  </a:txBody>
                  <a:tcPr>
                    <a:solidFill>
                      <a:srgbClr val="FFFFFF"/>
                    </a:solidFill>
                  </a:tcPr>
                </a:tc>
                <a:tc>
                  <a:txBody>
                    <a:bodyPr/>
                    <a:lstStyle/>
                    <a:p>
                      <a:pPr>
                        <a:defRPr/>
                      </a:pPr>
                      <a:r>
                        <a:rPr sz="1200" b="0">
                          <a:solidFill>
                            <a:srgbClr val="333333"/>
                          </a:solidFill>
                          <a:latin typeface="Calibri"/>
                        </a:rPr>
                        <a:t>Log-based prompt injection</a:t>
                      </a:r>
                      <a:endParaRPr/>
                    </a:p>
                  </a:txBody>
                  <a:tcPr>
                    <a:solidFill>
                      <a:srgbClr val="FFFFFF"/>
                    </a:solidFill>
                  </a:tcPr>
                </a:tc>
                <a:tc>
                  <a:txBody>
                    <a:bodyPr/>
                    <a:lstStyle/>
                    <a:p>
                      <a:pPr>
                        <a:defRPr/>
                      </a:pPr>
                      <a:r>
                        <a:rPr sz="1200" b="0">
                          <a:solidFill>
                            <a:srgbClr val="333333"/>
                          </a:solidFill>
                          <a:latin typeface="Calibri"/>
                        </a:rPr>
                        <a:t>Threat model for our injection tests</a:t>
                      </a:r>
                      <a:endParaRPr/>
                    </a:p>
                  </a:txBody>
                  <a:tcPr>
                    <a:solidFill>
                      <a:srgbClr val="FFFFFF"/>
                    </a:solidFill>
                  </a:tcPr>
                </a:tc>
                <a:extLst>
                  <a:ext uri="{0D108BD9-81ED-4DB2-BD59-A6C34878D82A}">
                    <a16:rowId xmlns:a16="http://schemas.microsoft.com/office/drawing/2014/main" val="10004"/>
                  </a:ext>
                </a:extLst>
              </a:tr>
              <a:tr h="685800">
                <a:tc>
                  <a:txBody>
                    <a:bodyPr/>
                    <a:lstStyle/>
                    <a:p>
                      <a:pPr>
                        <a:defRPr/>
                      </a:pPr>
                      <a:r>
                        <a:rPr sz="1200" b="1" dirty="0" err="1">
                          <a:solidFill>
                            <a:srgbClr val="333333"/>
                          </a:solidFill>
                          <a:latin typeface="Calibri"/>
                        </a:rPr>
                        <a:t>LogJack</a:t>
                      </a:r>
                      <a:r>
                        <a:rPr sz="1200" b="1" dirty="0">
                          <a:solidFill>
                            <a:srgbClr val="333333"/>
                          </a:solidFill>
                          <a:latin typeface="Calibri"/>
                        </a:rPr>
                        <a:t> (2026</a:t>
                      </a:r>
                      <a:r>
                        <a:rPr sz="1200" b="1" dirty="0" smtClean="0">
                          <a:solidFill>
                            <a:srgbClr val="333333"/>
                          </a:solidFill>
                          <a:latin typeface="Calibri"/>
                        </a:rPr>
                        <a:t>)</a:t>
                      </a:r>
                      <a:r>
                        <a:rPr lang="en-US" sz="1200" b="1" dirty="0" smtClean="0">
                          <a:solidFill>
                            <a:srgbClr val="333333"/>
                          </a:solidFill>
                          <a:latin typeface="Calibri"/>
                        </a:rPr>
                        <a:t> [11]</a:t>
                      </a:r>
                      <a:endParaRPr dirty="0"/>
                    </a:p>
                  </a:txBody>
                  <a:tcPr>
                    <a:solidFill>
                      <a:srgbClr val="FAF7F0"/>
                    </a:solidFill>
                  </a:tcPr>
                </a:tc>
                <a:tc>
                  <a:txBody>
                    <a:bodyPr/>
                    <a:lstStyle/>
                    <a:p>
                      <a:pPr>
                        <a:defRPr/>
                      </a:pPr>
                      <a:r>
                        <a:rPr sz="1200" b="0">
                          <a:solidFill>
                            <a:srgbClr val="333333"/>
                          </a:solidFill>
                          <a:latin typeface="Calibri"/>
                        </a:rPr>
                        <a:t>Injected commands in logs</a:t>
                      </a:r>
                      <a:endParaRPr/>
                    </a:p>
                  </a:txBody>
                  <a:tcPr>
                    <a:solidFill>
                      <a:srgbClr val="FAF7F0"/>
                    </a:solidFill>
                  </a:tcPr>
                </a:tc>
                <a:tc>
                  <a:txBody>
                    <a:bodyPr/>
                    <a:lstStyle/>
                    <a:p>
                      <a:pPr>
                        <a:defRPr/>
                      </a:pPr>
                      <a:r>
                        <a:rPr sz="1200" b="0" dirty="0">
                          <a:solidFill>
                            <a:srgbClr val="333333"/>
                          </a:solidFill>
                          <a:latin typeface="Calibri"/>
                        </a:rPr>
                        <a:t>Reinforces isolating Action Tools from Agent</a:t>
                      </a:r>
                      <a:endParaRPr dirty="0"/>
                    </a:p>
                  </a:txBody>
                  <a:tcPr>
                    <a:solidFill>
                      <a:srgbClr val="FAF7F0"/>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7436920" name="TextBox 1"/>
          <p:cNvSpPr txBox="1"/>
          <p:nvPr/>
        </p:nvSpPr>
        <p:spPr bwMode="auto">
          <a:xfrm>
            <a:off x="548640" y="292608"/>
            <a:ext cx="11064240" cy="731520"/>
          </a:xfrm>
          <a:prstGeom prst="rect">
            <a:avLst/>
          </a:prstGeom>
          <a:noFill/>
        </p:spPr>
        <p:txBody>
          <a:bodyPr wrap="square" anchor="t">
            <a:spAutoFit/>
          </a:bodyPr>
          <a:lstStyle/>
          <a:p>
            <a:pPr algn="l">
              <a:lnSpc>
                <a:spcPct val="100000"/>
              </a:lnSpc>
              <a:spcAft>
                <a:spcPts val="800"/>
              </a:spcAft>
              <a:defRPr/>
            </a:pPr>
            <a:r>
              <a:rPr sz="2800" b="1">
                <a:solidFill>
                  <a:srgbClr val="1B2A4A"/>
                </a:solidFill>
                <a:latin typeface="Georgia"/>
              </a:rPr>
              <a:t>Proposed Solutions to the 3 Gaps</a:t>
            </a:r>
            <a:endParaRPr/>
          </a:p>
        </p:txBody>
      </p:sp>
      <p:sp>
        <p:nvSpPr>
          <p:cNvPr id="1485432142" name="Rectangle 2"/>
          <p:cNvSpPr/>
          <p:nvPr/>
        </p:nvSpPr>
        <p:spPr bwMode="auto">
          <a:xfrm>
            <a:off x="566928" y="932688"/>
            <a:ext cx="1463040" cy="31750"/>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308279" name="Rectangle 3"/>
          <p:cNvSpPr/>
          <p:nvPr/>
        </p:nvSpPr>
        <p:spPr bwMode="auto">
          <a:xfrm>
            <a:off x="2103120" y="932688"/>
            <a:ext cx="9509760"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4994671" name="Rectangle 4"/>
          <p:cNvSpPr/>
          <p:nvPr/>
        </p:nvSpPr>
        <p:spPr bwMode="auto">
          <a:xfrm>
            <a:off x="548640" y="6473952"/>
            <a:ext cx="11091672"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046181"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800"/>
              </a:spcAft>
              <a:defRPr/>
            </a:pPr>
            <a:r>
              <a:rPr sz="900" b="0">
                <a:solidFill>
                  <a:srgbClr val="5A5A5A"/>
                </a:solidFill>
                <a:latin typeface="Georgia"/>
              </a:rPr>
              <a:t>LOTL-ARIA — Graduation Project Seminar  ·  Syrian Private University, 2026</a:t>
            </a:r>
            <a:endParaRPr/>
          </a:p>
        </p:txBody>
      </p:sp>
      <p:sp>
        <p:nvSpPr>
          <p:cNvPr id="883419610" name="TextBox 6"/>
          <p:cNvSpPr txBox="1"/>
          <p:nvPr/>
        </p:nvSpPr>
        <p:spPr bwMode="auto">
          <a:xfrm>
            <a:off x="10698480" y="6510528"/>
            <a:ext cx="914400" cy="274320"/>
          </a:xfrm>
          <a:prstGeom prst="rect">
            <a:avLst/>
          </a:prstGeom>
          <a:noFill/>
        </p:spPr>
        <p:txBody>
          <a:bodyPr wrap="square" anchor="t">
            <a:spAutoFit/>
          </a:bodyPr>
          <a:lstStyle/>
          <a:p>
            <a:pPr algn="r">
              <a:lnSpc>
                <a:spcPct val="100000"/>
              </a:lnSpc>
              <a:spcAft>
                <a:spcPts val="800"/>
              </a:spcAft>
              <a:defRPr/>
            </a:pPr>
            <a:r>
              <a:rPr sz="1000" b="1">
                <a:solidFill>
                  <a:srgbClr val="7B1E3B"/>
                </a:solidFill>
                <a:latin typeface="Georgia"/>
              </a:rPr>
              <a:t>6</a:t>
            </a:r>
            <a:endParaRPr/>
          </a:p>
        </p:txBody>
      </p:sp>
      <p:sp>
        <p:nvSpPr>
          <p:cNvPr id="1270862977" name="Rectangle 7"/>
          <p:cNvSpPr/>
          <p:nvPr/>
        </p:nvSpPr>
        <p:spPr bwMode="auto">
          <a:xfrm>
            <a:off x="640080" y="1600200"/>
            <a:ext cx="3520440" cy="2834640"/>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1612066" name="Rectangle 8"/>
          <p:cNvSpPr/>
          <p:nvPr/>
        </p:nvSpPr>
        <p:spPr bwMode="auto">
          <a:xfrm>
            <a:off x="640080" y="1600200"/>
            <a:ext cx="3520440" cy="6400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4900665" name="TextBox 9"/>
          <p:cNvSpPr txBox="1"/>
          <p:nvPr/>
        </p:nvSpPr>
        <p:spPr bwMode="auto">
          <a:xfrm>
            <a:off x="640080" y="1673352"/>
            <a:ext cx="3520440" cy="502920"/>
          </a:xfrm>
          <a:prstGeom prst="rect">
            <a:avLst/>
          </a:prstGeom>
          <a:noFill/>
        </p:spPr>
        <p:txBody>
          <a:bodyPr wrap="square" anchor="ctr">
            <a:spAutoFit/>
          </a:bodyPr>
          <a:lstStyle/>
          <a:p>
            <a:pPr algn="ctr">
              <a:lnSpc>
                <a:spcPct val="100000"/>
              </a:lnSpc>
              <a:spcAft>
                <a:spcPts val="800"/>
              </a:spcAft>
              <a:defRPr/>
            </a:pPr>
            <a:r>
              <a:rPr sz="1500" b="1">
                <a:solidFill>
                  <a:srgbClr val="FFFFFF"/>
                </a:solidFill>
                <a:latin typeface="Georgia"/>
              </a:rPr>
              <a:t>Solution I</a:t>
            </a:r>
            <a:endParaRPr/>
          </a:p>
        </p:txBody>
      </p:sp>
      <p:sp>
        <p:nvSpPr>
          <p:cNvPr id="1040633217" name="TextBox 10"/>
          <p:cNvSpPr txBox="1"/>
          <p:nvPr/>
        </p:nvSpPr>
        <p:spPr bwMode="auto">
          <a:xfrm>
            <a:off x="868680" y="2514600"/>
            <a:ext cx="3063240" cy="1737360"/>
          </a:xfrm>
          <a:prstGeom prst="rect">
            <a:avLst/>
          </a:prstGeom>
          <a:noFill/>
        </p:spPr>
        <p:txBody>
          <a:bodyPr wrap="square" anchor="t">
            <a:spAutoFit/>
          </a:bodyPr>
          <a:lstStyle/>
          <a:p>
            <a:pPr algn="ctr">
              <a:lnSpc>
                <a:spcPct val="100000"/>
              </a:lnSpc>
              <a:spcAft>
                <a:spcPts val="800"/>
              </a:spcAft>
              <a:defRPr/>
            </a:pPr>
            <a:r>
              <a:rPr sz="1900" b="1">
                <a:solidFill>
                  <a:srgbClr val="7B1E3B"/>
                </a:solidFill>
                <a:latin typeface="Georgia"/>
              </a:rPr>
              <a:t>Glass-Box ReAct Agent</a:t>
            </a:r>
            <a:endParaRPr/>
          </a:p>
          <a:p>
            <a:pPr algn="ctr">
              <a:lnSpc>
                <a:spcPct val="100000"/>
              </a:lnSpc>
              <a:spcAft>
                <a:spcPts val="800"/>
              </a:spcAft>
              <a:defRPr/>
            </a:pPr>
            <a:r>
              <a:rPr sz="1400" b="0">
                <a:solidFill>
                  <a:srgbClr val="5A5A5A"/>
                </a:solidFill>
                <a:latin typeface="Calibri"/>
              </a:rPr>
              <a:t>Solves Lack of Context &amp; Explainability</a:t>
            </a:r>
            <a:endParaRPr/>
          </a:p>
        </p:txBody>
      </p:sp>
      <p:sp>
        <p:nvSpPr>
          <p:cNvPr id="1539585798" name="Rectangle 11"/>
          <p:cNvSpPr/>
          <p:nvPr/>
        </p:nvSpPr>
        <p:spPr bwMode="auto">
          <a:xfrm>
            <a:off x="4434840" y="1600200"/>
            <a:ext cx="3520440" cy="2834640"/>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7731033" name="Rectangle 12"/>
          <p:cNvSpPr/>
          <p:nvPr/>
        </p:nvSpPr>
        <p:spPr bwMode="auto">
          <a:xfrm>
            <a:off x="4434840" y="1600200"/>
            <a:ext cx="3520440" cy="6400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8352864" name="TextBox 13"/>
          <p:cNvSpPr txBox="1"/>
          <p:nvPr/>
        </p:nvSpPr>
        <p:spPr bwMode="auto">
          <a:xfrm>
            <a:off x="4434840" y="1673352"/>
            <a:ext cx="3520440" cy="502920"/>
          </a:xfrm>
          <a:prstGeom prst="rect">
            <a:avLst/>
          </a:prstGeom>
          <a:noFill/>
        </p:spPr>
        <p:txBody>
          <a:bodyPr wrap="square" anchor="ctr">
            <a:spAutoFit/>
          </a:bodyPr>
          <a:lstStyle/>
          <a:p>
            <a:pPr algn="ctr">
              <a:lnSpc>
                <a:spcPct val="100000"/>
              </a:lnSpc>
              <a:spcAft>
                <a:spcPts val="800"/>
              </a:spcAft>
              <a:defRPr/>
            </a:pPr>
            <a:r>
              <a:rPr sz="1500" b="1">
                <a:solidFill>
                  <a:srgbClr val="FFFFFF"/>
                </a:solidFill>
                <a:latin typeface="Georgia"/>
              </a:rPr>
              <a:t>Solution II</a:t>
            </a:r>
            <a:endParaRPr/>
          </a:p>
        </p:txBody>
      </p:sp>
      <p:sp>
        <p:nvSpPr>
          <p:cNvPr id="2021213137" name="TextBox 14"/>
          <p:cNvSpPr txBox="1"/>
          <p:nvPr/>
        </p:nvSpPr>
        <p:spPr bwMode="auto">
          <a:xfrm>
            <a:off x="4663440" y="2514599"/>
            <a:ext cx="3063960" cy="696319"/>
          </a:xfrm>
          <a:prstGeom prst="rect">
            <a:avLst/>
          </a:prstGeom>
          <a:noFill/>
        </p:spPr>
        <p:txBody>
          <a:bodyPr wrap="square" anchor="t">
            <a:spAutoFit/>
          </a:bodyPr>
          <a:lstStyle/>
          <a:p>
            <a:pPr algn="ctr">
              <a:lnSpc>
                <a:spcPct val="100000"/>
              </a:lnSpc>
              <a:spcAft>
                <a:spcPts val="800"/>
              </a:spcAft>
              <a:defRPr/>
            </a:pPr>
            <a:r>
              <a:rPr sz="1900" b="1">
                <a:solidFill>
                  <a:srgbClr val="7B1E3B"/>
                </a:solidFill>
                <a:latin typeface="Georgia"/>
              </a:rPr>
              <a:t>Autonomous Response</a:t>
            </a:r>
            <a:endParaRPr/>
          </a:p>
          <a:p>
            <a:pPr algn="ctr">
              <a:lnSpc>
                <a:spcPct val="100000"/>
              </a:lnSpc>
              <a:spcAft>
                <a:spcPts val="800"/>
              </a:spcAft>
              <a:defRPr/>
            </a:pPr>
            <a:r>
              <a:rPr sz="1400" b="0">
                <a:solidFill>
                  <a:srgbClr val="5A5A5A"/>
                </a:solidFill>
                <a:latin typeface="Calibri"/>
              </a:rPr>
              <a:t>Solves No Response Capability</a:t>
            </a:r>
            <a:endParaRPr/>
          </a:p>
        </p:txBody>
      </p:sp>
      <p:sp>
        <p:nvSpPr>
          <p:cNvPr id="643723605" name="Rectangle 15"/>
          <p:cNvSpPr/>
          <p:nvPr/>
        </p:nvSpPr>
        <p:spPr bwMode="auto">
          <a:xfrm>
            <a:off x="8229600" y="1600200"/>
            <a:ext cx="3520440" cy="2834640"/>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0746657" name="Rectangle 16"/>
          <p:cNvSpPr/>
          <p:nvPr/>
        </p:nvSpPr>
        <p:spPr bwMode="auto">
          <a:xfrm>
            <a:off x="8229600" y="1600200"/>
            <a:ext cx="3520440" cy="6400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0839905" name="TextBox 17"/>
          <p:cNvSpPr txBox="1"/>
          <p:nvPr/>
        </p:nvSpPr>
        <p:spPr bwMode="auto">
          <a:xfrm>
            <a:off x="8229600" y="1673352"/>
            <a:ext cx="3520440" cy="502920"/>
          </a:xfrm>
          <a:prstGeom prst="rect">
            <a:avLst/>
          </a:prstGeom>
          <a:noFill/>
        </p:spPr>
        <p:txBody>
          <a:bodyPr wrap="square" anchor="ctr">
            <a:spAutoFit/>
          </a:bodyPr>
          <a:lstStyle/>
          <a:p>
            <a:pPr algn="ctr">
              <a:lnSpc>
                <a:spcPct val="100000"/>
              </a:lnSpc>
              <a:spcAft>
                <a:spcPts val="800"/>
              </a:spcAft>
              <a:defRPr/>
            </a:pPr>
            <a:r>
              <a:rPr sz="1500" b="1">
                <a:solidFill>
                  <a:srgbClr val="FFFFFF"/>
                </a:solidFill>
                <a:latin typeface="Georgia"/>
              </a:rPr>
              <a:t>Solution III</a:t>
            </a:r>
            <a:endParaRPr/>
          </a:p>
        </p:txBody>
      </p:sp>
      <p:sp>
        <p:nvSpPr>
          <p:cNvPr id="504919839" name="TextBox 18"/>
          <p:cNvSpPr txBox="1"/>
          <p:nvPr/>
        </p:nvSpPr>
        <p:spPr bwMode="auto">
          <a:xfrm>
            <a:off x="8458200" y="2514599"/>
            <a:ext cx="3063960" cy="696319"/>
          </a:xfrm>
          <a:prstGeom prst="rect">
            <a:avLst/>
          </a:prstGeom>
          <a:noFill/>
        </p:spPr>
        <p:txBody>
          <a:bodyPr wrap="square" anchor="t">
            <a:spAutoFit/>
          </a:bodyPr>
          <a:lstStyle/>
          <a:p>
            <a:pPr algn="ctr">
              <a:lnSpc>
                <a:spcPct val="100000"/>
              </a:lnSpc>
              <a:spcAft>
                <a:spcPts val="800"/>
              </a:spcAft>
              <a:defRPr/>
            </a:pPr>
            <a:r>
              <a:rPr sz="1900" b="1">
                <a:solidFill>
                  <a:srgbClr val="7B1E3B"/>
                </a:solidFill>
                <a:latin typeface="Georgia"/>
              </a:rPr>
              <a:t>Safety Gate</a:t>
            </a:r>
            <a:endParaRPr/>
          </a:p>
          <a:p>
            <a:pPr algn="ctr">
              <a:lnSpc>
                <a:spcPct val="100000"/>
              </a:lnSpc>
              <a:spcAft>
                <a:spcPts val="800"/>
              </a:spcAft>
              <a:defRPr/>
            </a:pPr>
            <a:r>
              <a:rPr sz="1400" b="0">
                <a:solidFill>
                  <a:srgbClr val="5A5A5A"/>
                </a:solidFill>
                <a:latin typeface="Calibri"/>
              </a:rPr>
              <a:t>Defends against Prompt Injection</a:t>
            </a:r>
            <a:endParaRPr/>
          </a:p>
        </p:txBody>
      </p:sp>
      <p:sp>
        <p:nvSpPr>
          <p:cNvPr id="1618408635" name="TextBox 19"/>
          <p:cNvSpPr txBox="1"/>
          <p:nvPr/>
        </p:nvSpPr>
        <p:spPr bwMode="auto">
          <a:xfrm>
            <a:off x="640080" y="4846320"/>
            <a:ext cx="10972800" cy="822960"/>
          </a:xfrm>
          <a:prstGeom prst="rect">
            <a:avLst/>
          </a:prstGeom>
          <a:noFill/>
        </p:spPr>
        <p:txBody>
          <a:bodyPr wrap="square" anchor="t">
            <a:spAutoFit/>
          </a:bodyPr>
          <a:lstStyle/>
          <a:p>
            <a:pPr algn="ctr">
              <a:lnSpc>
                <a:spcPct val="100000"/>
              </a:lnSpc>
              <a:spcAft>
                <a:spcPts val="800"/>
              </a:spcAft>
              <a:defRPr/>
            </a:pPr>
            <a:r>
              <a:rPr sz="1400" b="0">
                <a:solidFill>
                  <a:srgbClr val="5A5A5A"/>
                </a:solidFill>
                <a:latin typeface="Calibri"/>
              </a:rPr>
              <a:t>Each solution maps one-to-one onto a research gap identified in Slide 3.</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764411201"/>
              </p:ext>
            </p:extLst>
          </p:nvPr>
        </p:nvGraphicFramePr>
        <p:xfrm>
          <a:off x="129722" y="789051"/>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1"/>
          <p:cNvSpPr txBox="1"/>
          <p:nvPr/>
        </p:nvSpPr>
        <p:spPr bwMode="auto">
          <a:xfrm>
            <a:off x="238397" y="252995"/>
            <a:ext cx="11064959" cy="518519"/>
          </a:xfrm>
          <a:prstGeom prst="rect">
            <a:avLst/>
          </a:prstGeom>
          <a:noFill/>
        </p:spPr>
        <p:txBody>
          <a:bodyPr wrap="square" anchor="t">
            <a:spAutoFit/>
          </a:bodyPr>
          <a:lstStyle/>
          <a:p>
            <a:pPr algn="l">
              <a:lnSpc>
                <a:spcPct val="100000"/>
              </a:lnSpc>
              <a:spcAft>
                <a:spcPts val="800"/>
              </a:spcAft>
              <a:defRPr/>
            </a:pPr>
            <a:r>
              <a:rPr sz="2800" b="1" dirty="0">
                <a:solidFill>
                  <a:srgbClr val="1B2A4A"/>
                </a:solidFill>
                <a:latin typeface="Georgia"/>
              </a:rPr>
              <a:t>System Architecture</a:t>
            </a:r>
            <a:endParaRPr dirty="0"/>
          </a:p>
        </p:txBody>
      </p:sp>
      <p:sp>
        <p:nvSpPr>
          <p:cNvPr id="5"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7"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7</a:t>
            </a:r>
            <a:endParaRPr dirty="0"/>
          </a:p>
        </p:txBody>
      </p:sp>
    </p:spTree>
    <p:extLst>
      <p:ext uri="{BB962C8B-B14F-4D97-AF65-F5344CB8AC3E}">
        <p14:creationId xmlns:p14="http://schemas.microsoft.com/office/powerpoint/2010/main" val="13229122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40978" y="689887"/>
            <a:ext cx="7480005" cy="5195097"/>
          </a:xfrm>
          <a:prstGeom prst="rect">
            <a:avLst/>
          </a:prstGeom>
        </p:spPr>
      </p:pic>
      <p:sp>
        <p:nvSpPr>
          <p:cNvPr id="3"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5" name="TextBox 6"/>
          <p:cNvSpPr txBox="1"/>
          <p:nvPr/>
        </p:nvSpPr>
        <p:spPr bwMode="auto">
          <a:xfrm>
            <a:off x="10698480" y="6510528"/>
            <a:ext cx="914400" cy="274320"/>
          </a:xfrm>
          <a:prstGeom prst="rect">
            <a:avLst/>
          </a:prstGeom>
          <a:noFill/>
        </p:spPr>
        <p:txBody>
          <a:bodyPr wrap="square" anchor="t">
            <a:spAutoFit/>
          </a:bodyPr>
          <a:lstStyle/>
          <a:p>
            <a:pPr algn="r">
              <a:lnSpc>
                <a:spcPct val="100000"/>
              </a:lnSpc>
              <a:spcAft>
                <a:spcPts val="799"/>
              </a:spcAft>
              <a:defRPr/>
            </a:pPr>
            <a:r>
              <a:rPr sz="1000" b="1" dirty="0">
                <a:solidFill>
                  <a:srgbClr val="7B1E3B"/>
                </a:solidFill>
                <a:latin typeface="Georgia"/>
              </a:rPr>
              <a:t>8</a:t>
            </a:r>
            <a:endParaRPr dirty="0"/>
          </a:p>
        </p:txBody>
      </p:sp>
    </p:spTree>
    <p:extLst>
      <p:ext uri="{BB962C8B-B14F-4D97-AF65-F5344CB8AC3E}">
        <p14:creationId xmlns:p14="http://schemas.microsoft.com/office/powerpoint/2010/main" val="20914260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17533" y="336344"/>
            <a:ext cx="8012621" cy="6009466"/>
          </a:xfrm>
          <a:prstGeom prst="rect">
            <a:avLst/>
          </a:prstGeom>
        </p:spPr>
      </p:pic>
      <p:sp>
        <p:nvSpPr>
          <p:cNvPr id="3"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5"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9</a:t>
            </a:r>
            <a:endParaRPr dirty="0"/>
          </a:p>
        </p:txBody>
      </p:sp>
    </p:spTree>
    <p:extLst>
      <p:ext uri="{BB962C8B-B14F-4D97-AF65-F5344CB8AC3E}">
        <p14:creationId xmlns:p14="http://schemas.microsoft.com/office/powerpoint/2010/main" val="34206203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5"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10</a:t>
            </a:r>
            <a:endParaRPr dirty="0"/>
          </a:p>
        </p:txBody>
      </p:sp>
      <p:pic>
        <p:nvPicPr>
          <p:cNvPr id="6" name="Picture 5"/>
          <p:cNvPicPr>
            <a:picLocks noChangeAspect="1"/>
          </p:cNvPicPr>
          <p:nvPr/>
        </p:nvPicPr>
        <p:blipFill>
          <a:blip r:embed="rId2"/>
          <a:stretch>
            <a:fillRect/>
          </a:stretch>
        </p:blipFill>
        <p:spPr>
          <a:xfrm>
            <a:off x="1956122" y="101992"/>
            <a:ext cx="8057523" cy="6124977"/>
          </a:xfrm>
          <a:prstGeom prst="rect">
            <a:avLst/>
          </a:prstGeom>
        </p:spPr>
      </p:pic>
    </p:spTree>
    <p:extLst>
      <p:ext uri="{BB962C8B-B14F-4D97-AF65-F5344CB8AC3E}">
        <p14:creationId xmlns:p14="http://schemas.microsoft.com/office/powerpoint/2010/main" val="31280874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84487" y="934966"/>
            <a:ext cx="9395944" cy="4697972"/>
          </a:xfrm>
          <a:prstGeom prst="rect">
            <a:avLst/>
          </a:prstGeom>
        </p:spPr>
      </p:pic>
      <p:sp>
        <p:nvSpPr>
          <p:cNvPr id="3"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5"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11</a:t>
            </a:r>
            <a:endParaRPr dirty="0"/>
          </a:p>
        </p:txBody>
      </p:sp>
    </p:spTree>
    <p:extLst>
      <p:ext uri="{BB962C8B-B14F-4D97-AF65-F5344CB8AC3E}">
        <p14:creationId xmlns:p14="http://schemas.microsoft.com/office/powerpoint/2010/main" val="12822670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99108" y="286785"/>
            <a:ext cx="6435806" cy="6114015"/>
          </a:xfrm>
          <a:prstGeom prst="rect">
            <a:avLst/>
          </a:prstGeom>
        </p:spPr>
      </p:pic>
      <p:sp>
        <p:nvSpPr>
          <p:cNvPr id="3"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5"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12</a:t>
            </a:r>
            <a:endParaRPr dirty="0"/>
          </a:p>
        </p:txBody>
      </p:sp>
    </p:spTree>
    <p:extLst>
      <p:ext uri="{BB962C8B-B14F-4D97-AF65-F5344CB8AC3E}">
        <p14:creationId xmlns:p14="http://schemas.microsoft.com/office/powerpoint/2010/main" val="17966613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56343" y="145468"/>
            <a:ext cx="6586672" cy="6712532"/>
          </a:xfrm>
          <a:prstGeom prst="rect">
            <a:avLst/>
          </a:prstGeom>
        </p:spPr>
      </p:pic>
      <p:sp>
        <p:nvSpPr>
          <p:cNvPr id="3"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5"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13</a:t>
            </a:r>
            <a:endParaRPr dirty="0"/>
          </a:p>
        </p:txBody>
      </p:sp>
    </p:spTree>
    <p:extLst>
      <p:ext uri="{BB962C8B-B14F-4D97-AF65-F5344CB8AC3E}">
        <p14:creationId xmlns:p14="http://schemas.microsoft.com/office/powerpoint/2010/main" val="9762659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06629" y="1"/>
            <a:ext cx="7510092" cy="6465720"/>
          </a:xfrm>
          <a:prstGeom prst="rect">
            <a:avLst/>
          </a:prstGeom>
        </p:spPr>
      </p:pic>
      <p:sp>
        <p:nvSpPr>
          <p:cNvPr id="3"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5"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14</a:t>
            </a:r>
            <a:endParaRPr dirty="0"/>
          </a:p>
        </p:txBody>
      </p:sp>
    </p:spTree>
    <p:extLst>
      <p:ext uri="{BB962C8B-B14F-4D97-AF65-F5344CB8AC3E}">
        <p14:creationId xmlns:p14="http://schemas.microsoft.com/office/powerpoint/2010/main" val="24293796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50916" y="213495"/>
            <a:ext cx="9214481" cy="6644505"/>
          </a:xfrm>
          <a:prstGeom prst="rect">
            <a:avLst/>
          </a:prstGeom>
        </p:spPr>
      </p:pic>
      <p:sp>
        <p:nvSpPr>
          <p:cNvPr id="3"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5"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15</a:t>
            </a:r>
            <a:endParaRPr dirty="0"/>
          </a:p>
        </p:txBody>
      </p:sp>
    </p:spTree>
    <p:extLst>
      <p:ext uri="{BB962C8B-B14F-4D97-AF65-F5344CB8AC3E}">
        <p14:creationId xmlns:p14="http://schemas.microsoft.com/office/powerpoint/2010/main" val="31871252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10354036" name="TextBox 1"/>
          <p:cNvSpPr txBox="1"/>
          <p:nvPr/>
        </p:nvSpPr>
        <p:spPr bwMode="auto">
          <a:xfrm>
            <a:off x="548640" y="292608"/>
            <a:ext cx="11064240" cy="731520"/>
          </a:xfrm>
          <a:prstGeom prst="rect">
            <a:avLst/>
          </a:prstGeom>
          <a:noFill/>
        </p:spPr>
        <p:txBody>
          <a:bodyPr wrap="square" anchor="t">
            <a:spAutoFit/>
          </a:bodyPr>
          <a:lstStyle/>
          <a:p>
            <a:pPr algn="l">
              <a:lnSpc>
                <a:spcPct val="100000"/>
              </a:lnSpc>
              <a:spcAft>
                <a:spcPts val="800"/>
              </a:spcAft>
              <a:defRPr/>
            </a:pPr>
            <a:r>
              <a:rPr sz="2800" b="1">
                <a:solidFill>
                  <a:srgbClr val="1B2A4A"/>
                </a:solidFill>
                <a:latin typeface="Georgia"/>
              </a:rPr>
              <a:t>Tools &amp; Technologies</a:t>
            </a:r>
            <a:endParaRPr/>
          </a:p>
        </p:txBody>
      </p:sp>
      <p:sp>
        <p:nvSpPr>
          <p:cNvPr id="527005139" name="Rectangle 2"/>
          <p:cNvSpPr/>
          <p:nvPr/>
        </p:nvSpPr>
        <p:spPr bwMode="auto">
          <a:xfrm>
            <a:off x="566928" y="932688"/>
            <a:ext cx="1463040" cy="31750"/>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0189200" name="Rectangle 3"/>
          <p:cNvSpPr/>
          <p:nvPr/>
        </p:nvSpPr>
        <p:spPr bwMode="auto">
          <a:xfrm>
            <a:off x="2103120" y="932688"/>
            <a:ext cx="9509760"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1003120" name="Rectangle 4"/>
          <p:cNvSpPr/>
          <p:nvPr/>
        </p:nvSpPr>
        <p:spPr bwMode="auto">
          <a:xfrm>
            <a:off x="548640" y="6473952"/>
            <a:ext cx="11091672" cy="952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1978238"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800"/>
              </a:spcAft>
              <a:defRPr/>
            </a:pPr>
            <a:r>
              <a:rPr sz="900" b="0">
                <a:solidFill>
                  <a:srgbClr val="5A5A5A"/>
                </a:solidFill>
                <a:latin typeface="Georgia"/>
              </a:rPr>
              <a:t>LOTL-ARIA — Graduation Project Seminar  ·  Syrian Private University, 2026</a:t>
            </a:r>
            <a:endParaRPr/>
          </a:p>
        </p:txBody>
      </p:sp>
      <p:sp>
        <p:nvSpPr>
          <p:cNvPr id="410211223"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800"/>
              </a:spcAft>
              <a:defRPr/>
            </a:pPr>
            <a:r>
              <a:rPr lang="en-US" sz="1000" b="1" dirty="0" smtClean="0">
                <a:solidFill>
                  <a:srgbClr val="7B1E3B"/>
                </a:solidFill>
                <a:latin typeface="Georgia"/>
              </a:rPr>
              <a:t>16</a:t>
            </a:r>
            <a:endParaRPr dirty="0"/>
          </a:p>
        </p:txBody>
      </p:sp>
      <p:sp>
        <p:nvSpPr>
          <p:cNvPr id="1207189177" name="Rectangle 7"/>
          <p:cNvSpPr/>
          <p:nvPr/>
        </p:nvSpPr>
        <p:spPr bwMode="auto">
          <a:xfrm>
            <a:off x="822960" y="1463040"/>
            <a:ext cx="7040880" cy="749808"/>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14523619" name="TextBox 8"/>
          <p:cNvSpPr txBox="1"/>
          <p:nvPr/>
        </p:nvSpPr>
        <p:spPr bwMode="auto">
          <a:xfrm>
            <a:off x="1143000" y="1463040"/>
            <a:ext cx="6583680" cy="749808"/>
          </a:xfrm>
          <a:prstGeom prst="rect">
            <a:avLst/>
          </a:prstGeom>
          <a:noFill/>
        </p:spPr>
        <p:txBody>
          <a:bodyPr wrap="square" anchor="ctr">
            <a:spAutoFit/>
          </a:bodyPr>
          <a:lstStyle/>
          <a:p>
            <a:pPr algn="l">
              <a:lnSpc>
                <a:spcPct val="100000"/>
              </a:lnSpc>
              <a:spcAft>
                <a:spcPts val="800"/>
              </a:spcAft>
              <a:defRPr/>
            </a:pPr>
            <a:r>
              <a:rPr sz="1600" b="1">
                <a:solidFill>
                  <a:srgbClr val="1B2A4A"/>
                </a:solidFill>
                <a:latin typeface="Georgia"/>
              </a:rPr>
              <a:t>Wazuh SIEM  —  </a:t>
            </a:r>
            <a:r>
              <a:rPr sz="1300" b="0">
                <a:solidFill>
                  <a:srgbClr val="5A5A5A"/>
                </a:solidFill>
                <a:latin typeface="Calibri"/>
              </a:rPr>
              <a:t>Log collection, alerting, response hooks</a:t>
            </a:r>
            <a:endParaRPr/>
          </a:p>
        </p:txBody>
      </p:sp>
      <p:sp>
        <p:nvSpPr>
          <p:cNvPr id="1159571136" name="Rectangle 9"/>
          <p:cNvSpPr/>
          <p:nvPr/>
        </p:nvSpPr>
        <p:spPr bwMode="auto">
          <a:xfrm>
            <a:off x="822960" y="2395728"/>
            <a:ext cx="7040880" cy="749808"/>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3637330" name="TextBox 10"/>
          <p:cNvSpPr txBox="1"/>
          <p:nvPr/>
        </p:nvSpPr>
        <p:spPr bwMode="auto">
          <a:xfrm>
            <a:off x="1143000" y="2395728"/>
            <a:ext cx="6583680" cy="749808"/>
          </a:xfrm>
          <a:prstGeom prst="rect">
            <a:avLst/>
          </a:prstGeom>
          <a:noFill/>
        </p:spPr>
        <p:txBody>
          <a:bodyPr wrap="square" anchor="ctr">
            <a:spAutoFit/>
          </a:bodyPr>
          <a:lstStyle/>
          <a:p>
            <a:pPr algn="l">
              <a:lnSpc>
                <a:spcPct val="100000"/>
              </a:lnSpc>
              <a:spcAft>
                <a:spcPts val="800"/>
              </a:spcAft>
              <a:defRPr/>
            </a:pPr>
            <a:r>
              <a:rPr sz="1600" b="1">
                <a:solidFill>
                  <a:srgbClr val="1B2A4A"/>
                </a:solidFill>
                <a:latin typeface="Georgia"/>
              </a:rPr>
              <a:t>Python &amp; LangGraph  —  </a:t>
            </a:r>
            <a:r>
              <a:rPr sz="1300" b="0">
                <a:solidFill>
                  <a:srgbClr val="5A5A5A"/>
                </a:solidFill>
                <a:latin typeface="Calibri"/>
              </a:rPr>
              <a:t>Core implementation, agent orchestration</a:t>
            </a:r>
            <a:endParaRPr/>
          </a:p>
        </p:txBody>
      </p:sp>
      <p:sp>
        <p:nvSpPr>
          <p:cNvPr id="419240435" name="Rectangle 11"/>
          <p:cNvSpPr/>
          <p:nvPr/>
        </p:nvSpPr>
        <p:spPr bwMode="auto">
          <a:xfrm>
            <a:off x="822960" y="3328416"/>
            <a:ext cx="7040880" cy="749808"/>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9414714" name="TextBox 12"/>
          <p:cNvSpPr txBox="1"/>
          <p:nvPr/>
        </p:nvSpPr>
        <p:spPr bwMode="auto">
          <a:xfrm>
            <a:off x="1143000" y="3328416"/>
            <a:ext cx="6583680" cy="749808"/>
          </a:xfrm>
          <a:prstGeom prst="rect">
            <a:avLst/>
          </a:prstGeom>
          <a:noFill/>
        </p:spPr>
        <p:txBody>
          <a:bodyPr wrap="square" anchor="ctr">
            <a:spAutoFit/>
          </a:bodyPr>
          <a:lstStyle/>
          <a:p>
            <a:pPr algn="l">
              <a:lnSpc>
                <a:spcPct val="100000"/>
              </a:lnSpc>
              <a:spcAft>
                <a:spcPts val="800"/>
              </a:spcAft>
              <a:defRPr/>
            </a:pPr>
            <a:r>
              <a:rPr sz="1600" b="1">
                <a:solidFill>
                  <a:srgbClr val="1B2A4A"/>
                </a:solidFill>
                <a:latin typeface="Georgia"/>
              </a:rPr>
              <a:t>GPT-OSS via Ollama  —  </a:t>
            </a:r>
            <a:r>
              <a:rPr sz="1300" b="0">
                <a:solidFill>
                  <a:srgbClr val="5A5A5A"/>
                </a:solidFill>
                <a:latin typeface="Calibri"/>
              </a:rPr>
              <a:t>Local, private LLM inference</a:t>
            </a:r>
            <a:endParaRPr/>
          </a:p>
        </p:txBody>
      </p:sp>
      <p:sp>
        <p:nvSpPr>
          <p:cNvPr id="1189747601" name="Rectangle 13"/>
          <p:cNvSpPr/>
          <p:nvPr/>
        </p:nvSpPr>
        <p:spPr bwMode="auto">
          <a:xfrm>
            <a:off x="822960" y="4261104"/>
            <a:ext cx="7040880" cy="749808"/>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4129273" name="TextBox 14"/>
          <p:cNvSpPr txBox="1"/>
          <p:nvPr/>
        </p:nvSpPr>
        <p:spPr bwMode="auto">
          <a:xfrm>
            <a:off x="1143000" y="4261104"/>
            <a:ext cx="6583680" cy="749808"/>
          </a:xfrm>
          <a:prstGeom prst="rect">
            <a:avLst/>
          </a:prstGeom>
          <a:noFill/>
        </p:spPr>
        <p:txBody>
          <a:bodyPr wrap="square" anchor="ctr">
            <a:spAutoFit/>
          </a:bodyPr>
          <a:lstStyle/>
          <a:p>
            <a:pPr algn="l">
              <a:lnSpc>
                <a:spcPct val="100000"/>
              </a:lnSpc>
              <a:spcAft>
                <a:spcPts val="800"/>
              </a:spcAft>
              <a:defRPr/>
            </a:pPr>
            <a:r>
              <a:rPr sz="1600" b="1">
                <a:solidFill>
                  <a:srgbClr val="1B2A4A"/>
                </a:solidFill>
                <a:latin typeface="Georgia"/>
              </a:rPr>
              <a:t>VirtualBox  —  </a:t>
            </a:r>
            <a:r>
              <a:rPr sz="1300" b="0">
                <a:solidFill>
                  <a:srgbClr val="5A5A5A"/>
                </a:solidFill>
                <a:latin typeface="Calibri"/>
              </a:rPr>
              <a:t>Ubuntu, Kali, Windows labs</a:t>
            </a:r>
            <a:endParaRPr/>
          </a:p>
        </p:txBody>
      </p:sp>
      <p:sp>
        <p:nvSpPr>
          <p:cNvPr id="2030862197" name="Rectangle 15"/>
          <p:cNvSpPr/>
          <p:nvPr/>
        </p:nvSpPr>
        <p:spPr bwMode="auto">
          <a:xfrm>
            <a:off x="822960" y="5193792"/>
            <a:ext cx="7040880" cy="749808"/>
          </a:xfrm>
          <a:prstGeom prst="rect">
            <a:avLst/>
          </a:prstGeom>
          <a:solidFill>
            <a:srgbClr val="FAF7F0"/>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1678025" name="TextBox 16"/>
          <p:cNvSpPr txBox="1"/>
          <p:nvPr/>
        </p:nvSpPr>
        <p:spPr bwMode="auto">
          <a:xfrm>
            <a:off x="1143000" y="5193792"/>
            <a:ext cx="6583680" cy="749808"/>
          </a:xfrm>
          <a:prstGeom prst="rect">
            <a:avLst/>
          </a:prstGeom>
          <a:noFill/>
        </p:spPr>
        <p:txBody>
          <a:bodyPr wrap="square" anchor="ctr">
            <a:spAutoFit/>
          </a:bodyPr>
          <a:lstStyle/>
          <a:p>
            <a:pPr algn="l">
              <a:lnSpc>
                <a:spcPct val="100000"/>
              </a:lnSpc>
              <a:spcAft>
                <a:spcPts val="800"/>
              </a:spcAft>
              <a:defRPr/>
            </a:pPr>
            <a:r>
              <a:rPr sz="1600" b="1">
                <a:solidFill>
                  <a:srgbClr val="1B2A4A"/>
                </a:solidFill>
                <a:latin typeface="Georgia"/>
              </a:rPr>
              <a:t>SQLite  —  </a:t>
            </a:r>
            <a:r>
              <a:rPr sz="1300" b="0">
                <a:solidFill>
                  <a:srgbClr val="5A5A5A"/>
                </a:solidFill>
                <a:latin typeface="Calibri"/>
              </a:rPr>
              <a:t>Investigation and audit storage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6070455" name="Rectangle 1"/>
          <p:cNvSpPr/>
          <p:nvPr/>
        </p:nvSpPr>
        <p:spPr bwMode="auto">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305230" name="Rectangle 2"/>
          <p:cNvSpPr/>
          <p:nvPr/>
        </p:nvSpPr>
        <p:spPr bwMode="auto">
          <a:xfrm>
            <a:off x="0" y="502920"/>
            <a:ext cx="12191695" cy="1905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9159278" name="Rectangle 3"/>
          <p:cNvSpPr/>
          <p:nvPr/>
        </p:nvSpPr>
        <p:spPr bwMode="auto">
          <a:xfrm>
            <a:off x="0" y="566928"/>
            <a:ext cx="12191695" cy="9525"/>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9165441" name="TextBox 4"/>
          <p:cNvSpPr txBox="1"/>
          <p:nvPr/>
        </p:nvSpPr>
        <p:spPr bwMode="auto">
          <a:xfrm>
            <a:off x="914400" y="1371600"/>
            <a:ext cx="10360152" cy="914400"/>
          </a:xfrm>
          <a:prstGeom prst="rect">
            <a:avLst/>
          </a:prstGeom>
          <a:noFill/>
        </p:spPr>
        <p:txBody>
          <a:bodyPr wrap="square" anchor="t">
            <a:spAutoFit/>
          </a:bodyPr>
          <a:lstStyle/>
          <a:p>
            <a:pPr algn="ctr">
              <a:lnSpc>
                <a:spcPct val="100000"/>
              </a:lnSpc>
              <a:spcAft>
                <a:spcPts val="800"/>
              </a:spcAft>
              <a:defRPr/>
            </a:pPr>
            <a:r>
              <a:rPr sz="3600" b="1">
                <a:solidFill>
                  <a:srgbClr val="1B2A4A"/>
                </a:solidFill>
                <a:latin typeface="Georgia"/>
              </a:rPr>
              <a:t>Conclusion</a:t>
            </a:r>
            <a:endParaRPr/>
          </a:p>
        </p:txBody>
      </p:sp>
      <p:sp>
        <p:nvSpPr>
          <p:cNvPr id="882362843" name="Rectangle 5"/>
          <p:cNvSpPr/>
          <p:nvPr/>
        </p:nvSpPr>
        <p:spPr bwMode="auto">
          <a:xfrm>
            <a:off x="5394960" y="2286000"/>
            <a:ext cx="1399032" cy="15240"/>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2868041" name="TextBox 6"/>
          <p:cNvSpPr txBox="1"/>
          <p:nvPr/>
        </p:nvSpPr>
        <p:spPr bwMode="auto">
          <a:xfrm>
            <a:off x="914400" y="2606040"/>
            <a:ext cx="10360152" cy="1463040"/>
          </a:xfrm>
          <a:prstGeom prst="rect">
            <a:avLst/>
          </a:prstGeom>
          <a:noFill/>
        </p:spPr>
        <p:txBody>
          <a:bodyPr wrap="square" anchor="t">
            <a:spAutoFit/>
          </a:bodyPr>
          <a:lstStyle/>
          <a:p>
            <a:pPr algn="ctr">
              <a:lnSpc>
                <a:spcPct val="100000"/>
              </a:lnSpc>
              <a:spcAft>
                <a:spcPts val="800"/>
              </a:spcAft>
              <a:defRPr/>
            </a:pPr>
            <a:r>
              <a:rPr sz="1900" b="1">
                <a:solidFill>
                  <a:srgbClr val="333333"/>
                </a:solidFill>
                <a:latin typeface="Georgia"/>
              </a:rPr>
              <a:t>LOTL-ARIA makes autonomous SOC agents Safe, Reliable, and Context-aware.</a:t>
            </a:r>
            <a:endParaRPr/>
          </a:p>
          <a:p>
            <a:pPr algn="ctr">
              <a:lnSpc>
                <a:spcPct val="100000"/>
              </a:lnSpc>
              <a:spcAft>
                <a:spcPts val="800"/>
              </a:spcAft>
              <a:defRPr/>
            </a:pPr>
            <a:r>
              <a:rPr sz="1500" b="0">
                <a:solidFill>
                  <a:srgbClr val="5A5A5A"/>
                </a:solidFill>
                <a:latin typeface="Calibri"/>
              </a:rPr>
              <a:t>It moves the industry from passive detection to transparent investigation and controlled response.</a:t>
            </a:r>
            <a:endParaRPr/>
          </a:p>
        </p:txBody>
      </p:sp>
      <p:sp>
        <p:nvSpPr>
          <p:cNvPr id="795025843" name="Rectangle 7"/>
          <p:cNvSpPr/>
          <p:nvPr/>
        </p:nvSpPr>
        <p:spPr bwMode="auto">
          <a:xfrm>
            <a:off x="1417320" y="4343400"/>
            <a:ext cx="2880360" cy="1188720"/>
          </a:xfrm>
          <a:prstGeom prst="rect">
            <a:avLst/>
          </a:prstGeom>
          <a:solidFill>
            <a:srgbClr val="FFFFFF"/>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03999398" name="TextBox 8"/>
          <p:cNvSpPr txBox="1"/>
          <p:nvPr/>
        </p:nvSpPr>
        <p:spPr bwMode="auto">
          <a:xfrm>
            <a:off x="1554480" y="4434840"/>
            <a:ext cx="2606040" cy="1005840"/>
          </a:xfrm>
          <a:prstGeom prst="rect">
            <a:avLst/>
          </a:prstGeom>
          <a:noFill/>
        </p:spPr>
        <p:txBody>
          <a:bodyPr wrap="square" anchor="t">
            <a:spAutoFit/>
          </a:bodyPr>
          <a:lstStyle/>
          <a:p>
            <a:pPr algn="ctr">
              <a:lnSpc>
                <a:spcPct val="100000"/>
              </a:lnSpc>
              <a:spcAft>
                <a:spcPts val="800"/>
              </a:spcAft>
              <a:defRPr/>
            </a:pPr>
            <a:r>
              <a:rPr sz="1800" b="1">
                <a:solidFill>
                  <a:srgbClr val="7B1E3B"/>
                </a:solidFill>
                <a:latin typeface="Georgia"/>
              </a:rPr>
              <a:t>Safe</a:t>
            </a:r>
            <a:endParaRPr/>
          </a:p>
          <a:p>
            <a:pPr algn="ctr">
              <a:lnSpc>
                <a:spcPct val="100000"/>
              </a:lnSpc>
              <a:spcAft>
                <a:spcPts val="800"/>
              </a:spcAft>
              <a:defRPr/>
            </a:pPr>
            <a:r>
              <a:rPr sz="1150" b="0">
                <a:solidFill>
                  <a:srgbClr val="5A5A5A"/>
                </a:solidFill>
                <a:latin typeface="Calibri"/>
              </a:rPr>
              <a:t>Deterministic Safety Gate</a:t>
            </a:r>
            <a:endParaRPr/>
          </a:p>
        </p:txBody>
      </p:sp>
      <p:sp>
        <p:nvSpPr>
          <p:cNvPr id="646977442" name="Rectangle 9"/>
          <p:cNvSpPr/>
          <p:nvPr/>
        </p:nvSpPr>
        <p:spPr bwMode="auto">
          <a:xfrm>
            <a:off x="4663440" y="4343400"/>
            <a:ext cx="2880360" cy="1188720"/>
          </a:xfrm>
          <a:prstGeom prst="rect">
            <a:avLst/>
          </a:prstGeom>
          <a:solidFill>
            <a:srgbClr val="FFFFFF"/>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0257510" name="TextBox 10"/>
          <p:cNvSpPr txBox="1"/>
          <p:nvPr/>
        </p:nvSpPr>
        <p:spPr bwMode="auto">
          <a:xfrm>
            <a:off x="4800600" y="4434840"/>
            <a:ext cx="2606040" cy="1005840"/>
          </a:xfrm>
          <a:prstGeom prst="rect">
            <a:avLst/>
          </a:prstGeom>
          <a:noFill/>
        </p:spPr>
        <p:txBody>
          <a:bodyPr wrap="square" anchor="t">
            <a:spAutoFit/>
          </a:bodyPr>
          <a:lstStyle/>
          <a:p>
            <a:pPr algn="ctr">
              <a:lnSpc>
                <a:spcPct val="100000"/>
              </a:lnSpc>
              <a:spcAft>
                <a:spcPts val="800"/>
              </a:spcAft>
              <a:defRPr/>
            </a:pPr>
            <a:r>
              <a:rPr sz="1800" b="1">
                <a:solidFill>
                  <a:srgbClr val="7B1E3B"/>
                </a:solidFill>
                <a:latin typeface="Georgia"/>
              </a:rPr>
              <a:t>Reliable</a:t>
            </a:r>
            <a:endParaRPr/>
          </a:p>
          <a:p>
            <a:pPr algn="ctr">
              <a:lnSpc>
                <a:spcPct val="100000"/>
              </a:lnSpc>
              <a:spcAft>
                <a:spcPts val="800"/>
              </a:spcAft>
              <a:defRPr/>
            </a:pPr>
            <a:r>
              <a:rPr sz="1150" b="0">
                <a:solidFill>
                  <a:srgbClr val="5A5A5A"/>
                </a:solidFill>
                <a:latin typeface="Calibri"/>
              </a:rPr>
              <a:t>Auditable reasoning</a:t>
            </a:r>
            <a:endParaRPr/>
          </a:p>
        </p:txBody>
      </p:sp>
      <p:sp>
        <p:nvSpPr>
          <p:cNvPr id="1774843993" name="Rectangle 11"/>
          <p:cNvSpPr/>
          <p:nvPr/>
        </p:nvSpPr>
        <p:spPr bwMode="auto">
          <a:xfrm>
            <a:off x="7909560" y="4343400"/>
            <a:ext cx="2880360" cy="1188720"/>
          </a:xfrm>
          <a:prstGeom prst="rect">
            <a:avLst/>
          </a:prstGeom>
          <a:solidFill>
            <a:srgbClr val="FFFFFF"/>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3363871" name="TextBox 12"/>
          <p:cNvSpPr txBox="1"/>
          <p:nvPr/>
        </p:nvSpPr>
        <p:spPr bwMode="auto">
          <a:xfrm>
            <a:off x="8046720" y="4434840"/>
            <a:ext cx="2606040" cy="1005840"/>
          </a:xfrm>
          <a:prstGeom prst="rect">
            <a:avLst/>
          </a:prstGeom>
          <a:noFill/>
        </p:spPr>
        <p:txBody>
          <a:bodyPr wrap="square" anchor="t">
            <a:spAutoFit/>
          </a:bodyPr>
          <a:lstStyle/>
          <a:p>
            <a:pPr algn="ctr">
              <a:lnSpc>
                <a:spcPct val="100000"/>
              </a:lnSpc>
              <a:spcAft>
                <a:spcPts val="800"/>
              </a:spcAft>
              <a:defRPr/>
            </a:pPr>
            <a:r>
              <a:rPr sz="1800" b="1">
                <a:solidFill>
                  <a:srgbClr val="7B1E3B"/>
                </a:solidFill>
                <a:latin typeface="Georgia"/>
              </a:rPr>
              <a:t>Context-aware</a:t>
            </a:r>
            <a:endParaRPr/>
          </a:p>
          <a:p>
            <a:pPr algn="ctr">
              <a:lnSpc>
                <a:spcPct val="100000"/>
              </a:lnSpc>
              <a:spcAft>
                <a:spcPts val="800"/>
              </a:spcAft>
              <a:defRPr/>
            </a:pPr>
            <a:r>
              <a:rPr sz="1150" b="0">
                <a:solidFill>
                  <a:srgbClr val="5A5A5A"/>
                </a:solidFill>
                <a:latin typeface="Calibri"/>
              </a:rPr>
              <a:t>Full provenance chain</a:t>
            </a:r>
            <a:endParaRPr/>
          </a:p>
        </p:txBody>
      </p:sp>
      <p:sp>
        <p:nvSpPr>
          <p:cNvPr id="1023657135" name="Rectangle 13"/>
          <p:cNvSpPr/>
          <p:nvPr/>
        </p:nvSpPr>
        <p:spPr bwMode="auto">
          <a:xfrm>
            <a:off x="4480560" y="5806440"/>
            <a:ext cx="3227832" cy="152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68291394" name="TextBox 14"/>
          <p:cNvSpPr txBox="1"/>
          <p:nvPr/>
        </p:nvSpPr>
        <p:spPr bwMode="auto">
          <a:xfrm>
            <a:off x="914400" y="5943600"/>
            <a:ext cx="10360152" cy="640080"/>
          </a:xfrm>
          <a:prstGeom prst="rect">
            <a:avLst/>
          </a:prstGeom>
          <a:noFill/>
        </p:spPr>
        <p:txBody>
          <a:bodyPr wrap="square" anchor="t">
            <a:spAutoFit/>
          </a:bodyPr>
          <a:lstStyle/>
          <a:p>
            <a:pPr algn="ctr">
              <a:lnSpc>
                <a:spcPct val="100000"/>
              </a:lnSpc>
              <a:spcAft>
                <a:spcPts val="800"/>
              </a:spcAft>
              <a:defRPr/>
            </a:pPr>
            <a:r>
              <a:rPr sz="2000" b="1">
                <a:solidFill>
                  <a:srgbClr val="1B2A4A"/>
                </a:solidFill>
                <a:latin typeface="Georgia"/>
              </a:rPr>
              <a:t>Thank You — Questions?</a:t>
            </a:r>
            <a:endParaRPr/>
          </a:p>
        </p:txBody>
      </p:sp>
      <p:sp>
        <p:nvSpPr>
          <p:cNvPr id="1974120121" name="Rectangle 15"/>
          <p:cNvSpPr/>
          <p:nvPr/>
        </p:nvSpPr>
        <p:spPr bwMode="auto">
          <a:xfrm>
            <a:off x="0" y="6355080"/>
            <a:ext cx="12191695" cy="1905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61325" name="Rectangle 16"/>
          <p:cNvSpPr/>
          <p:nvPr/>
        </p:nvSpPr>
        <p:spPr bwMode="auto">
          <a:xfrm>
            <a:off x="0" y="6291072"/>
            <a:ext cx="12191695" cy="9525"/>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20"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17</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5249515" name="TextBox 1"/>
          <p:cNvSpPr txBox="1"/>
          <p:nvPr/>
        </p:nvSpPr>
        <p:spPr bwMode="auto">
          <a:xfrm>
            <a:off x="548640" y="292608"/>
            <a:ext cx="11071438" cy="518519"/>
          </a:xfrm>
          <a:prstGeom prst="rect">
            <a:avLst/>
          </a:prstGeom>
          <a:noFill/>
        </p:spPr>
        <p:txBody>
          <a:bodyPr wrap="square" anchor="t">
            <a:spAutoFit/>
          </a:bodyPr>
          <a:lstStyle/>
          <a:p>
            <a:pPr algn="l">
              <a:lnSpc>
                <a:spcPct val="100000"/>
              </a:lnSpc>
              <a:spcAft>
                <a:spcPts val="799"/>
              </a:spcAft>
              <a:defRPr/>
            </a:pPr>
            <a:r>
              <a:rPr sz="2800" b="1" dirty="0">
                <a:solidFill>
                  <a:srgbClr val="1B2A4A"/>
                </a:solidFill>
                <a:latin typeface="Georgia"/>
              </a:rPr>
              <a:t>References</a:t>
            </a:r>
            <a:endParaRPr dirty="0"/>
          </a:p>
        </p:txBody>
      </p:sp>
      <p:sp>
        <p:nvSpPr>
          <p:cNvPr id="1655801274" name="Rectangle 2"/>
          <p:cNvSpPr/>
          <p:nvPr/>
        </p:nvSpPr>
        <p:spPr bwMode="auto">
          <a:xfrm>
            <a:off x="566928" y="932688"/>
            <a:ext cx="1463040" cy="31749"/>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52478463" name="Rectangle 3"/>
          <p:cNvSpPr/>
          <p:nvPr/>
        </p:nvSpPr>
        <p:spPr bwMode="auto">
          <a:xfrm>
            <a:off x="2103120" y="932688"/>
            <a:ext cx="9509760"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3659481"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428340"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1638653605"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18</a:t>
            </a:r>
            <a:endParaRPr dirty="0"/>
          </a:p>
        </p:txBody>
      </p:sp>
      <p:sp>
        <p:nvSpPr>
          <p:cNvPr id="3" name="Rectangle 2"/>
          <p:cNvSpPr/>
          <p:nvPr/>
        </p:nvSpPr>
        <p:spPr>
          <a:xfrm>
            <a:off x="353568" y="1109334"/>
            <a:ext cx="11015472" cy="923330"/>
          </a:xfrm>
          <a:prstGeom prst="rect">
            <a:avLst/>
          </a:prstGeom>
        </p:spPr>
        <p:txBody>
          <a:bodyPr wrap="square">
            <a:spAutoFit/>
          </a:bodyPr>
          <a:lstStyle/>
          <a:p>
            <a:r>
              <a:rPr lang="en-US" b="1" dirty="0">
                <a:solidFill>
                  <a:srgbClr val="000000"/>
                </a:solidFill>
                <a:latin typeface="Times New Roman" panose="02020603050405020304" pitchFamily="18" charset="0"/>
              </a:rPr>
              <a:t>[1]</a:t>
            </a:r>
            <a:r>
              <a:rPr lang="en-US" dirty="0">
                <a:solidFill>
                  <a:srgbClr val="000000"/>
                </a:solidFill>
                <a:latin typeface="Times New Roman" panose="02020603050405020304" pitchFamily="18" charset="0"/>
              </a:rPr>
              <a:t> T. Zhu, J. Zheng, T. Chen, M. </a:t>
            </a:r>
            <a:r>
              <a:rPr lang="en-US" dirty="0" err="1">
                <a:solidFill>
                  <a:srgbClr val="000000"/>
                </a:solidFill>
                <a:latin typeface="Times New Roman" panose="02020603050405020304" pitchFamily="18" charset="0"/>
              </a:rPr>
              <a:t>Lv</a:t>
            </a:r>
            <a:r>
              <a:rPr lang="en-US" dirty="0">
                <a:solidFill>
                  <a:srgbClr val="000000"/>
                </a:solidFill>
                <a:latin typeface="Times New Roman" panose="02020603050405020304" pitchFamily="18" charset="0"/>
              </a:rPr>
              <a:t>, C. </a:t>
            </a:r>
            <a:r>
              <a:rPr lang="en-US" dirty="0" err="1">
                <a:solidFill>
                  <a:srgbClr val="000000"/>
                </a:solidFill>
                <a:latin typeface="Times New Roman" panose="02020603050405020304" pitchFamily="18" charset="0"/>
              </a:rPr>
              <a:t>Xiong</a:t>
            </a:r>
            <a:r>
              <a:rPr lang="en-US" dirty="0">
                <a:solidFill>
                  <a:srgbClr val="000000"/>
                </a:solidFill>
                <a:latin typeface="Times New Roman" panose="02020603050405020304" pitchFamily="18" charset="0"/>
              </a:rPr>
              <a:t>, Z. </a:t>
            </a:r>
            <a:r>
              <a:rPr lang="en-US" dirty="0" err="1">
                <a:solidFill>
                  <a:srgbClr val="000000"/>
                </a:solidFill>
                <a:latin typeface="Times New Roman" panose="02020603050405020304" pitchFamily="18" charset="0"/>
              </a:rPr>
              <a:t>Weng</a:t>
            </a:r>
            <a:r>
              <a:rPr lang="en-US" dirty="0">
                <a:solidFill>
                  <a:srgbClr val="000000"/>
                </a:solidFill>
                <a:latin typeface="Times New Roman" panose="02020603050405020304" pitchFamily="18" charset="0"/>
              </a:rPr>
              <a:t>, and X. Zheng, "</a:t>
            </a:r>
            <a:r>
              <a:rPr lang="en-US" dirty="0" err="1">
                <a:solidFill>
                  <a:srgbClr val="000000"/>
                </a:solidFill>
                <a:latin typeface="Times New Roman" panose="02020603050405020304" pitchFamily="18" charset="0"/>
              </a:rPr>
              <a:t>Lotldetector</a:t>
            </a:r>
            <a:r>
              <a:rPr lang="en-US" dirty="0">
                <a:solidFill>
                  <a:srgbClr val="000000"/>
                </a:solidFill>
                <a:latin typeface="Times New Roman" panose="02020603050405020304" pitchFamily="18" charset="0"/>
              </a:rPr>
              <a:t>: living off the land attacks detection system based on feature fusion," Cybersecurity, vol. 9, article no. 4, Jan. 2026. [Online]. Available: https://link.springer.com/article/10.1186/s42400-025-00531-w</a:t>
            </a:r>
            <a:endParaRPr lang="en-US" dirty="0"/>
          </a:p>
        </p:txBody>
      </p:sp>
      <p:sp>
        <p:nvSpPr>
          <p:cNvPr id="4" name="Rectangle 3"/>
          <p:cNvSpPr/>
          <p:nvPr/>
        </p:nvSpPr>
        <p:spPr>
          <a:xfrm>
            <a:off x="353568" y="2108441"/>
            <a:ext cx="9536641" cy="923330"/>
          </a:xfrm>
          <a:prstGeom prst="rect">
            <a:avLst/>
          </a:prstGeom>
        </p:spPr>
        <p:txBody>
          <a:bodyPr wrap="square">
            <a:spAutoFit/>
          </a:bodyPr>
          <a:lstStyle/>
          <a:p>
            <a:r>
              <a:rPr lang="en-US" b="1" dirty="0" smtClean="0">
                <a:solidFill>
                  <a:srgbClr val="000000"/>
                </a:solidFill>
                <a:latin typeface="Times New Roman" panose="02020603050405020304" pitchFamily="18" charset="0"/>
              </a:rPr>
              <a:t>[2]</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NDSS, "RACONTEUR: LLM-Based Shell Command Explanation," in Proc. Network and Distributed System Security Symposium (NDSS), 2025. [Online]. Available: https://www.ndss-symposium.org/wp-content/uploads/2025-s798-paper.pdf</a:t>
            </a:r>
            <a:endParaRPr lang="en-US" dirty="0"/>
          </a:p>
        </p:txBody>
      </p:sp>
      <p:sp>
        <p:nvSpPr>
          <p:cNvPr id="6" name="Rectangle 5"/>
          <p:cNvSpPr/>
          <p:nvPr/>
        </p:nvSpPr>
        <p:spPr>
          <a:xfrm>
            <a:off x="353568" y="3100077"/>
            <a:ext cx="8595360" cy="646331"/>
          </a:xfrm>
          <a:prstGeom prst="rect">
            <a:avLst/>
          </a:prstGeom>
        </p:spPr>
        <p:txBody>
          <a:bodyPr wrap="square">
            <a:spAutoFit/>
          </a:bodyPr>
          <a:lstStyle/>
          <a:p>
            <a:r>
              <a:rPr lang="en-US" b="1" dirty="0" smtClean="0">
                <a:solidFill>
                  <a:srgbClr val="000000"/>
                </a:solidFill>
                <a:latin typeface="Times New Roman" panose="02020603050405020304" pitchFamily="18" charset="0"/>
              </a:rPr>
              <a:t>[3]</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Springer, "Automated Risk Assessment of Shell-Based Attacks Using a LLM," in Proc. Springer Conference, 2025. [Online].</a:t>
            </a:r>
            <a:endParaRPr lang="en-US" dirty="0"/>
          </a:p>
        </p:txBody>
      </p:sp>
      <p:sp>
        <p:nvSpPr>
          <p:cNvPr id="7" name="Rectangle 6"/>
          <p:cNvSpPr/>
          <p:nvPr/>
        </p:nvSpPr>
        <p:spPr>
          <a:xfrm>
            <a:off x="353568" y="3896581"/>
            <a:ext cx="8971280" cy="646331"/>
          </a:xfrm>
          <a:prstGeom prst="rect">
            <a:avLst/>
          </a:prstGeom>
        </p:spPr>
        <p:txBody>
          <a:bodyPr wrap="square">
            <a:spAutoFit/>
          </a:bodyPr>
          <a:lstStyle/>
          <a:p>
            <a:r>
              <a:rPr lang="en-US" b="1" dirty="0" smtClean="0">
                <a:solidFill>
                  <a:srgbClr val="000000"/>
                </a:solidFill>
                <a:latin typeface="Times New Roman" panose="02020603050405020304" pitchFamily="18" charset="0"/>
              </a:rPr>
              <a:t>[4]</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MILCOM, "SENTINEL: LOTL Failure Modes," in Proc. IEEE Military Communications Conference (MILCOM), 2026. [Online]. Available: https://arxiv.org/abs/2609.14593</a:t>
            </a:r>
            <a:endParaRPr lang="en-US" dirty="0"/>
          </a:p>
        </p:txBody>
      </p:sp>
      <p:sp>
        <p:nvSpPr>
          <p:cNvPr id="8" name="Rectangle 7"/>
          <p:cNvSpPr/>
          <p:nvPr/>
        </p:nvSpPr>
        <p:spPr>
          <a:xfrm>
            <a:off x="353568" y="4569964"/>
            <a:ext cx="7723632" cy="923330"/>
          </a:xfrm>
          <a:prstGeom prst="rect">
            <a:avLst/>
          </a:prstGeom>
        </p:spPr>
        <p:txBody>
          <a:bodyPr wrap="square">
            <a:spAutoFit/>
          </a:bodyPr>
          <a:lstStyle/>
          <a:p>
            <a:r>
              <a:rPr lang="en-US" b="1" dirty="0" smtClean="0">
                <a:solidFill>
                  <a:srgbClr val="000000"/>
                </a:solidFill>
                <a:latin typeface="Times New Roman" panose="02020603050405020304" pitchFamily="18" charset="0"/>
              </a:rPr>
              <a:t>[5]</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Springer, "Supervised Learning for </a:t>
            </a:r>
            <a:r>
              <a:rPr lang="en-US" dirty="0" err="1">
                <a:solidFill>
                  <a:srgbClr val="000000"/>
                </a:solidFill>
                <a:latin typeface="Times New Roman" panose="02020603050405020304" pitchFamily="18" charset="0"/>
              </a:rPr>
              <a:t>LOLBins</a:t>
            </a:r>
            <a:r>
              <a:rPr lang="en-US" dirty="0">
                <a:solidFill>
                  <a:srgbClr val="000000"/>
                </a:solidFill>
                <a:latin typeface="Times New Roman" panose="02020603050405020304" pitchFamily="18" charset="0"/>
              </a:rPr>
              <a:t> Detection in Linux Machines," in Proc. Springer Conference, 2026. [Online]. Available: https://link.springer.com/chapter/10.1007/978-3-032-12876-8_26</a:t>
            </a:r>
            <a:endParaRPr lang="en-US" dirty="0"/>
          </a:p>
        </p:txBody>
      </p:sp>
      <p:sp>
        <p:nvSpPr>
          <p:cNvPr id="9" name="Rectangle 8"/>
          <p:cNvSpPr/>
          <p:nvPr/>
        </p:nvSpPr>
        <p:spPr>
          <a:xfrm>
            <a:off x="353568" y="5527506"/>
            <a:ext cx="8119872" cy="646331"/>
          </a:xfrm>
          <a:prstGeom prst="rect">
            <a:avLst/>
          </a:prstGeom>
        </p:spPr>
        <p:txBody>
          <a:bodyPr wrap="square">
            <a:spAutoFit/>
          </a:bodyPr>
          <a:lstStyle/>
          <a:p>
            <a:r>
              <a:rPr lang="en-US" b="1" dirty="0" smtClean="0">
                <a:solidFill>
                  <a:srgbClr val="000000"/>
                </a:solidFill>
                <a:latin typeface="Times New Roman" panose="02020603050405020304" pitchFamily="18" charset="0"/>
              </a:rPr>
              <a:t>[6]</a:t>
            </a:r>
            <a:r>
              <a:rPr lang="en-US" dirty="0" smtClean="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BlueSTAR</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BlueSTAR</a:t>
            </a:r>
            <a:r>
              <a:rPr lang="en-US" dirty="0">
                <a:solidFill>
                  <a:srgbClr val="000000"/>
                </a:solidFill>
                <a:latin typeface="Times New Roman" panose="02020603050405020304" pitchFamily="18" charset="0"/>
              </a:rPr>
              <a:t>: Rules-First Tiered Architecture," </a:t>
            </a:r>
            <a:r>
              <a:rPr lang="en-US" dirty="0" err="1">
                <a:solidFill>
                  <a:srgbClr val="000000"/>
                </a:solidFill>
                <a:latin typeface="Times New Roman" panose="02020603050405020304" pitchFamily="18" charset="0"/>
              </a:rPr>
              <a:t>arXiv</a:t>
            </a:r>
            <a:r>
              <a:rPr lang="en-US" dirty="0">
                <a:solidFill>
                  <a:srgbClr val="000000"/>
                </a:solidFill>
                <a:latin typeface="Times New Roman" panose="02020603050405020304" pitchFamily="18" charset="0"/>
              </a:rPr>
              <a:t> preprint arXiv:2609.11852, 2026.</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1209040"/>
            <a:ext cx="11470640" cy="923330"/>
          </a:xfrm>
          <a:prstGeom prst="rect">
            <a:avLst/>
          </a:prstGeom>
        </p:spPr>
        <p:txBody>
          <a:bodyPr wrap="square">
            <a:spAutoFit/>
          </a:bodyPr>
          <a:lstStyle/>
          <a:p>
            <a:r>
              <a:rPr lang="en-US" b="1" dirty="0" smtClean="0">
                <a:solidFill>
                  <a:srgbClr val="000000"/>
                </a:solidFill>
                <a:latin typeface="Times New Roman" panose="02020603050405020304" pitchFamily="18" charset="0"/>
              </a:rPr>
              <a:t>[7]</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J. Roy and S. K. Singh, "</a:t>
            </a:r>
            <a:r>
              <a:rPr lang="en-US" dirty="0" err="1">
                <a:solidFill>
                  <a:srgbClr val="000000"/>
                </a:solidFill>
                <a:latin typeface="Times New Roman" panose="02020603050405020304" pitchFamily="18" charset="0"/>
              </a:rPr>
              <a:t>AgentSOC</a:t>
            </a:r>
            <a:r>
              <a:rPr lang="en-US" dirty="0">
                <a:solidFill>
                  <a:srgbClr val="000000"/>
                </a:solidFill>
                <a:latin typeface="Times New Roman" panose="02020603050405020304" pitchFamily="18" charset="0"/>
              </a:rPr>
              <a:t>: A Multi-Layer Agentic AI Framework for Security Operations Automation," in Proc. IEEE 5th Int. Conf. Artificial Intelligence in Cybersecurity (ICAIC), Houston, TX, USA, Feb. 2026. [Online]. Available: https://doi.org/10.1109/ICAIC67076.2026.11395783</a:t>
            </a:r>
            <a:endParaRPr lang="en-US" dirty="0"/>
          </a:p>
        </p:txBody>
      </p:sp>
      <p:sp>
        <p:nvSpPr>
          <p:cNvPr id="4" name="TextBox 1"/>
          <p:cNvSpPr txBox="1"/>
          <p:nvPr/>
        </p:nvSpPr>
        <p:spPr bwMode="auto">
          <a:xfrm>
            <a:off x="548640" y="292608"/>
            <a:ext cx="11071438" cy="518519"/>
          </a:xfrm>
          <a:prstGeom prst="rect">
            <a:avLst/>
          </a:prstGeom>
          <a:noFill/>
        </p:spPr>
        <p:txBody>
          <a:bodyPr wrap="square" anchor="t">
            <a:spAutoFit/>
          </a:bodyPr>
          <a:lstStyle/>
          <a:p>
            <a:pPr algn="l">
              <a:lnSpc>
                <a:spcPct val="100000"/>
              </a:lnSpc>
              <a:spcAft>
                <a:spcPts val="799"/>
              </a:spcAft>
              <a:defRPr/>
            </a:pPr>
            <a:r>
              <a:rPr sz="2800" b="1" dirty="0">
                <a:solidFill>
                  <a:srgbClr val="1B2A4A"/>
                </a:solidFill>
                <a:latin typeface="Georgia"/>
              </a:rPr>
              <a:t>References</a:t>
            </a:r>
            <a:endParaRPr dirty="0"/>
          </a:p>
        </p:txBody>
      </p:sp>
      <p:sp>
        <p:nvSpPr>
          <p:cNvPr id="5" name="Rectangle 2"/>
          <p:cNvSpPr/>
          <p:nvPr/>
        </p:nvSpPr>
        <p:spPr bwMode="auto">
          <a:xfrm>
            <a:off x="566928" y="932688"/>
            <a:ext cx="1463040" cy="31749"/>
          </a:xfrm>
          <a:prstGeom prst="rect">
            <a:avLst/>
          </a:prstGeom>
          <a:solidFill>
            <a:srgbClr val="7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 name="Rectangle 3"/>
          <p:cNvSpPr/>
          <p:nvPr/>
        </p:nvSpPr>
        <p:spPr bwMode="auto">
          <a:xfrm>
            <a:off x="2103120" y="932688"/>
            <a:ext cx="9509760"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Rectangle 6"/>
          <p:cNvSpPr/>
          <p:nvPr/>
        </p:nvSpPr>
        <p:spPr>
          <a:xfrm>
            <a:off x="304800" y="2367428"/>
            <a:ext cx="7914640" cy="646331"/>
          </a:xfrm>
          <a:prstGeom prst="rect">
            <a:avLst/>
          </a:prstGeom>
        </p:spPr>
        <p:txBody>
          <a:bodyPr wrap="square">
            <a:spAutoFit/>
          </a:bodyPr>
          <a:lstStyle/>
          <a:p>
            <a:r>
              <a:rPr lang="en-US" b="1" dirty="0" smtClean="0">
                <a:solidFill>
                  <a:srgbClr val="000000"/>
                </a:solidFill>
                <a:latin typeface="Times New Roman" panose="02020603050405020304" pitchFamily="18" charset="0"/>
              </a:rPr>
              <a:t>[8]</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Kim, "Hyper-Automation SOAR with Agentic AI," MDPI Journal, vol. 16, no. 5, 2025. [Online]. Available: https://www.mdpi.com/2078-2489/16/5/365</a:t>
            </a:r>
            <a:endParaRPr lang="en-US" dirty="0"/>
          </a:p>
        </p:txBody>
      </p:sp>
      <p:sp>
        <p:nvSpPr>
          <p:cNvPr id="8" name="Rectangle 7"/>
          <p:cNvSpPr/>
          <p:nvPr/>
        </p:nvSpPr>
        <p:spPr>
          <a:xfrm>
            <a:off x="304800" y="3269137"/>
            <a:ext cx="8087360" cy="923330"/>
          </a:xfrm>
          <a:prstGeom prst="rect">
            <a:avLst/>
          </a:prstGeom>
        </p:spPr>
        <p:txBody>
          <a:bodyPr wrap="square">
            <a:spAutoFit/>
          </a:bodyPr>
          <a:lstStyle/>
          <a:p>
            <a:r>
              <a:rPr lang="en-US" b="1" dirty="0" smtClean="0">
                <a:solidFill>
                  <a:srgbClr val="000000"/>
                </a:solidFill>
                <a:latin typeface="Times New Roman" panose="02020603050405020304" pitchFamily="18" charset="0"/>
              </a:rPr>
              <a:t>[9]</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GIRA, "GIRA: Safety Gate for Incident Response Agents," in Proc. ICLR 2026 Workshop, 2026. [Online]. Available: https://openreview.net/attachment?id=LBt5eX6OKx&amp;name=pdf</a:t>
            </a:r>
            <a:endParaRPr lang="en-US" dirty="0"/>
          </a:p>
        </p:txBody>
      </p:sp>
      <p:sp>
        <p:nvSpPr>
          <p:cNvPr id="9" name="Rectangle 8"/>
          <p:cNvSpPr/>
          <p:nvPr/>
        </p:nvSpPr>
        <p:spPr>
          <a:xfrm>
            <a:off x="304800" y="4368801"/>
            <a:ext cx="7843520" cy="646331"/>
          </a:xfrm>
          <a:prstGeom prst="rect">
            <a:avLst/>
          </a:prstGeom>
        </p:spPr>
        <p:txBody>
          <a:bodyPr wrap="square">
            <a:spAutoFit/>
          </a:bodyPr>
          <a:lstStyle/>
          <a:p>
            <a:r>
              <a:rPr lang="en-US" b="1" dirty="0" smtClean="0">
                <a:solidFill>
                  <a:srgbClr val="000000"/>
                </a:solidFill>
                <a:latin typeface="Times New Roman" panose="02020603050405020304" pitchFamily="18" charset="0"/>
              </a:rPr>
              <a:t>[10]</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"Poisoning the Watchtower: Log-Based Prompt Injection Against SOC LLMs," </a:t>
            </a:r>
            <a:r>
              <a:rPr lang="en-US" dirty="0" err="1">
                <a:solidFill>
                  <a:srgbClr val="000000"/>
                </a:solidFill>
                <a:latin typeface="Times New Roman" panose="02020603050405020304" pitchFamily="18" charset="0"/>
              </a:rPr>
              <a:t>arXiv</a:t>
            </a:r>
            <a:r>
              <a:rPr lang="en-US" dirty="0">
                <a:solidFill>
                  <a:srgbClr val="000000"/>
                </a:solidFill>
                <a:latin typeface="Times New Roman" panose="02020603050405020304" pitchFamily="18" charset="0"/>
              </a:rPr>
              <a:t> preprint arXiv:2605.24421, 2026.</a:t>
            </a:r>
            <a:endParaRPr lang="en-US" dirty="0"/>
          </a:p>
        </p:txBody>
      </p:sp>
      <p:sp>
        <p:nvSpPr>
          <p:cNvPr id="10" name="Rectangle 9"/>
          <p:cNvSpPr/>
          <p:nvPr/>
        </p:nvSpPr>
        <p:spPr>
          <a:xfrm>
            <a:off x="304800" y="5415280"/>
            <a:ext cx="7914640" cy="646331"/>
          </a:xfrm>
          <a:prstGeom prst="rect">
            <a:avLst/>
          </a:prstGeom>
        </p:spPr>
        <p:txBody>
          <a:bodyPr wrap="square">
            <a:spAutoFit/>
          </a:bodyPr>
          <a:lstStyle/>
          <a:p>
            <a:r>
              <a:rPr lang="en-US" b="1" dirty="0" smtClean="0">
                <a:solidFill>
                  <a:srgbClr val="000000"/>
                </a:solidFill>
                <a:latin typeface="Times New Roman" panose="02020603050405020304" pitchFamily="18" charset="0"/>
              </a:rPr>
              <a:t>[11]</a:t>
            </a:r>
            <a:r>
              <a:rPr lang="en-US" dirty="0" smtClean="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a:t>
            </a:r>
            <a:r>
              <a:rPr lang="en-US" dirty="0" err="1">
                <a:solidFill>
                  <a:srgbClr val="000000"/>
                </a:solidFill>
                <a:latin typeface="Times New Roman" panose="02020603050405020304" pitchFamily="18" charset="0"/>
              </a:rPr>
              <a:t>LogJack</a:t>
            </a:r>
            <a:r>
              <a:rPr lang="en-US" dirty="0">
                <a:solidFill>
                  <a:srgbClr val="000000"/>
                </a:solidFill>
                <a:latin typeface="Times New Roman" panose="02020603050405020304" pitchFamily="18" charset="0"/>
              </a:rPr>
              <a:t>: Injected Commands Executed by Tool-Using Agents," </a:t>
            </a:r>
            <a:r>
              <a:rPr lang="en-US" dirty="0" err="1">
                <a:solidFill>
                  <a:srgbClr val="000000"/>
                </a:solidFill>
                <a:latin typeface="Times New Roman" panose="02020603050405020304" pitchFamily="18" charset="0"/>
              </a:rPr>
              <a:t>arXiv</a:t>
            </a:r>
            <a:r>
              <a:rPr lang="en-US" dirty="0">
                <a:solidFill>
                  <a:srgbClr val="000000"/>
                </a:solidFill>
                <a:latin typeface="Times New Roman" panose="02020603050405020304" pitchFamily="18" charset="0"/>
              </a:rPr>
              <a:t> preprint arXiv:2604.15368, 2026.</a:t>
            </a:r>
            <a:endParaRPr lang="en-US" dirty="0"/>
          </a:p>
        </p:txBody>
      </p:sp>
      <p:sp>
        <p:nvSpPr>
          <p:cNvPr id="11" name="Rectangle 4"/>
          <p:cNvSpPr/>
          <p:nvPr/>
        </p:nvSpPr>
        <p:spPr bwMode="auto">
          <a:xfrm>
            <a:off x="548640" y="6473952"/>
            <a:ext cx="11091672" cy="95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 name="TextBox 5"/>
          <p:cNvSpPr txBox="1"/>
          <p:nvPr/>
        </p:nvSpPr>
        <p:spPr bwMode="auto">
          <a:xfrm>
            <a:off x="548640" y="6510528"/>
            <a:ext cx="7315200" cy="274320"/>
          </a:xfrm>
          <a:prstGeom prst="rect">
            <a:avLst/>
          </a:prstGeom>
          <a:noFill/>
        </p:spPr>
        <p:txBody>
          <a:bodyPr wrap="square" anchor="t">
            <a:spAutoFit/>
          </a:bodyPr>
          <a:lstStyle/>
          <a:p>
            <a:pPr algn="l">
              <a:lnSpc>
                <a:spcPct val="100000"/>
              </a:lnSpc>
              <a:spcAft>
                <a:spcPts val="799"/>
              </a:spcAft>
              <a:defRPr/>
            </a:pPr>
            <a:r>
              <a:rPr sz="900" b="0">
                <a:solidFill>
                  <a:srgbClr val="5A5A5A"/>
                </a:solidFill>
                <a:latin typeface="Georgia"/>
              </a:rPr>
              <a:t>LOTL-ARIA — Graduation Project Seminar  ·  Syrian Private University, 2026</a:t>
            </a:r>
            <a:endParaRPr/>
          </a:p>
        </p:txBody>
      </p:sp>
      <p:sp>
        <p:nvSpPr>
          <p:cNvPr id="13" name="TextBox 6"/>
          <p:cNvSpPr txBox="1"/>
          <p:nvPr/>
        </p:nvSpPr>
        <p:spPr bwMode="auto">
          <a:xfrm>
            <a:off x="10698480" y="6510528"/>
            <a:ext cx="914400" cy="246221"/>
          </a:xfrm>
          <a:prstGeom prst="rect">
            <a:avLst/>
          </a:prstGeom>
          <a:noFill/>
        </p:spPr>
        <p:txBody>
          <a:bodyPr wrap="square" anchor="t">
            <a:spAutoFit/>
          </a:bodyPr>
          <a:lstStyle/>
          <a:p>
            <a:pPr algn="r">
              <a:lnSpc>
                <a:spcPct val="100000"/>
              </a:lnSpc>
              <a:spcAft>
                <a:spcPts val="799"/>
              </a:spcAft>
              <a:defRPr/>
            </a:pPr>
            <a:r>
              <a:rPr lang="en-US" sz="1000" b="1" dirty="0" smtClean="0">
                <a:solidFill>
                  <a:srgbClr val="7B1E3B"/>
                </a:solidFill>
                <a:latin typeface="Georgia"/>
              </a:rPr>
              <a:t>19</a:t>
            </a:r>
            <a:endParaRPr dirty="0"/>
          </a:p>
        </p:txBody>
      </p:sp>
    </p:spTree>
    <p:extLst>
      <p:ext uri="{BB962C8B-B14F-4D97-AF65-F5344CB8AC3E}">
        <p14:creationId xmlns:p14="http://schemas.microsoft.com/office/powerpoint/2010/main" val="41025307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117</TotalTime>
  <Words>1842</Words>
  <Application>Microsoft Office PowerPoint</Application>
  <PresentationFormat>Widescreen</PresentationFormat>
  <Paragraphs>159</Paragraphs>
  <Slides>19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luay almare</dc:creator>
  <cp:keywords/>
  <dc:description>generated using python-pptx</dc:description>
  <cp:lastModifiedBy>luay almare</cp:lastModifiedBy>
  <cp:revision>13</cp:revision>
  <dcterms:created xsi:type="dcterms:W3CDTF">2013-01-27T09:14:16Z</dcterms:created>
  <dcterms:modified xsi:type="dcterms:W3CDTF">2026-10-27T20:28:56Z</dcterms:modified>
  <cp:category/>
</cp:coreProperties>
</file>